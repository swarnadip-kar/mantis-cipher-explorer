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5" r:id="rId14"/>
    <p:sldId id="268" r:id="rId15"/>
    <p:sldId id="276" r:id="rId16"/>
    <p:sldId id="269" r:id="rId17"/>
    <p:sldId id="270" r:id="rId18"/>
    <p:sldId id="274" r:id="rId19"/>
    <p:sldId id="271" r:id="rId20"/>
    <p:sldId id="272" r:id="rId21"/>
    <p:sldId id="273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8"/>
    <p:restoredTop sz="94610"/>
  </p:normalViewPr>
  <p:slideViewPr>
    <p:cSldViewPr snapToGrid="0" snapToObjects="1">
      <p:cViewPr>
        <p:scale>
          <a:sx n="130" d="100"/>
          <a:sy n="130" d="100"/>
        </p:scale>
        <p:origin x="1144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45983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1C9A7-A4D3-1122-798E-655059024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7C64A-5A05-7462-17BE-42B285D349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3A8674-F878-478A-FC3E-A0FDBF05F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7A939-FD92-6A49-5B7F-C78566B320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237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67131-5E3C-5A81-E1A4-12E546E7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824F7-DF52-D265-26F3-1E4656FF77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839FB-4399-5D5B-628F-74267FE08B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3459C-E9D5-5C21-A069-977008D2FB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58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ntis-cipher-explorer.vercel.app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hyperlink" Target="github.com/Swarnadip-Kar/mantis-cipher-explorer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274320"/>
            <a:ext cx="2743200" cy="2743200"/>
          </a:xfrm>
          <a:prstGeom prst="ellipse">
            <a:avLst/>
          </a:prstGeom>
          <a:solidFill>
            <a:srgbClr val="0E7FA8">
              <a:alpha val="15000"/>
            </a:srgbClr>
          </a:solidFill>
          <a:ln w="12700">
            <a:solidFill>
              <a:srgbClr val="00C8FF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1097280"/>
            <a:ext cx="1463040" cy="1463040"/>
          </a:xfrm>
          <a:prstGeom prst="ellipse">
            <a:avLst/>
          </a:prstGeom>
          <a:solidFill>
            <a:srgbClr val="0E7FA8">
              <a:alpha val="15000"/>
            </a:srgbClr>
          </a:solidFill>
          <a:ln w="12700">
            <a:solidFill>
              <a:srgbClr val="00C8FF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280160"/>
            <a:ext cx="914400" cy="914400"/>
          </a:xfrm>
          <a:prstGeom prst="ellipse">
            <a:avLst/>
          </a:prstGeom>
          <a:solidFill>
            <a:srgbClr val="0E7FA8">
              <a:alpha val="15000"/>
            </a:srgbClr>
          </a:solidFill>
          <a:ln w="12700">
            <a:solidFill>
              <a:srgbClr val="00C8FF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" y="4389120"/>
            <a:ext cx="1828800" cy="1828800"/>
          </a:xfrm>
          <a:prstGeom prst="ellipse">
            <a:avLst/>
          </a:prstGeom>
          <a:solidFill>
            <a:srgbClr val="0E7FA8">
              <a:alpha val="15000"/>
            </a:srgbClr>
          </a:solidFill>
          <a:ln w="12700">
            <a:solidFill>
              <a:srgbClr val="00C8FF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365760" y="3200400"/>
            <a:ext cx="1280160" cy="1280160"/>
          </a:xfrm>
          <a:prstGeom prst="ellipse">
            <a:avLst/>
          </a:prstGeom>
          <a:solidFill>
            <a:srgbClr val="0E7FA8">
              <a:alpha val="15000"/>
            </a:srgbClr>
          </a:solidFill>
          <a:ln w="12700">
            <a:solidFill>
              <a:srgbClr val="00C8FF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5603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CSL505 CRYPTOGRAPHY  ·  TERM PAPER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6400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MANTIS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Low-Latency Tweakable Block Cipher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2487168"/>
            <a:ext cx="3200400" cy="36576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15184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Analysis &amp; a Novel Variant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00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Agastya Nath  ·  Swarnadip Kar  ·  Divyansh Dubey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520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Institute of Technology Bhilai  ·  Winter 2026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1148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Cipher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83280" y="41148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41148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41148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41148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572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Encryption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83280" y="45720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3280" y="4572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α-Reflection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5720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4572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SKINNY / MIDORI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53035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MANTIS?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2743200" cy="329184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27432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630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21208" y="2157984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Latency Problem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9496" y="2706624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(10 rounds) is too slow for cache-line memory encryption — every read/write must be protected within a single clock cycle.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9272" y="1325880"/>
            <a:ext cx="2743200" cy="329184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19272" y="1325880"/>
            <a:ext cx="27432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19272" y="14630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🔑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429000" y="2157984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 Input Needed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47288" y="2706624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&amp; SIMON reduce gate count but lack a tweak input for sector-level data isolation. Standard ciphers require costly re-keying.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325880"/>
            <a:ext cx="2743200" cy="329184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325880"/>
            <a:ext cx="27432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7064" y="14630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🔁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336792" y="2157984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Decryption Overhead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55080" y="2706624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decrypt circuits double hardware cost. PRINCE introduced α-reflection; MANTIS extends this with a full 64-bit tweak.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" y="4709160"/>
            <a:ext cx="8503920" cy="27432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 proposed by Beierle et al. at CRYPTO 2016 as part of the SKINNY cipher family [BJK+16]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CIPHER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MANTIS Parameters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5303520" cy="32918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size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bits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bits  (k₀ ∥ k₁, each 64 bits)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Tweak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bits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Half-round count 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(MANTIS5) to 8 (MANTIS8)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bits (nibble)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layout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× 4 array of nibbles (row-wise)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Decryption overhead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— same circuit, swapped keys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170432"/>
            <a:ext cx="2834640" cy="3291840"/>
          </a:xfrm>
          <a:prstGeom prst="rect">
            <a:avLst/>
          </a:prstGeom>
          <a:solidFill>
            <a:srgbClr val="0D1830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12648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Schedule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0" y="1645920"/>
            <a:ext cx="2651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k′₀ = ROR64(k₀, 1)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k̄₁ = k₁ ⊕ α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= 0x243F6A88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85A308D3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(from π digits)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35040" y="3200400"/>
            <a:ext cx="2834640" cy="1261872"/>
          </a:xfrm>
          <a:prstGeom prst="rect">
            <a:avLst/>
          </a:prstGeom>
          <a:solidFill>
            <a:srgbClr val="06101F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0" y="3255264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FX-Construction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26480" y="361188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 and post-whitening keys k₀ and k′₀ wrap the keyed permutation, boosting security of the inner cipher.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4617720"/>
            <a:ext cx="8412480" cy="347472"/>
          </a:xfrm>
          <a:prstGeom prst="rect">
            <a:avLst/>
          </a:prstGeom>
          <a:solidFill>
            <a:srgbClr val="0E7FA8">
              <a:alpha val="3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6177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α-Reflection: Dec(k₀,k′₀,k₁)(·,T) = Enc(k′₀,k₀,k₁⊕α)(·,T)  —  Decryption is free hardware!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 COMPONENTS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S-Box · PermuteCells · MixColumns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143000"/>
            <a:ext cx="8503920" cy="150876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143000"/>
            <a:ext cx="54864" cy="150876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070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Involutory MIDORI S-Box Sb₀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1790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Sb₀ ∘ Sb₀ = id  (same table for encrypt &amp; decrypt)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47088"/>
          <a:ext cx="8083296" cy="457200"/>
        </p:xfrm>
        <a:graphic>
          <a:graphicData uri="http://schemas.openxmlformats.org/drawingml/2006/table">
            <a:tbl>
              <a:tblPr/>
              <a:tblGrid>
                <a:gridCol w="47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Sb₀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94360" y="234086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4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DPmax = 2⁻²  ·  εmax = 2⁻²  (optimal for involutory 4-bit S-boxes)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11480" y="2670048"/>
            <a:ext cx="4114800" cy="155448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11480" y="2670048"/>
            <a:ext cx="54864" cy="155448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273405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PermuteCells (MIDORI P)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94360" y="308152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Permutes 16 nibbles of the 4×4 state array.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Maximises active S-boxes vs PRINCE permutation.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94360" y="3611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P:   0→0  1→11  2→6  3→13  4→10  5→1  6→12  7→7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8→5  9→14  10→3  11→8  12→15  13→4  14→9  15→2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09160" y="2670048"/>
            <a:ext cx="4206240" cy="155448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09160" y="2670048"/>
            <a:ext cx="54864" cy="1554480"/>
          </a:xfrm>
          <a:prstGeom prst="rect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92040" y="273405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MixColumns (Involutory)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892040" y="308152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matrix M over GF(2), applied per column.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M² = I → same circuit for encrypt &amp; decrypt.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892040" y="3611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| 0 1 1 1 |     Branch number 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 1 0 1 1 |     M² = I (involutory)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 1 1 0 1 |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 1 1 1 0 |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FUNCTION &amp; ENCRYPTION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MANTISᵣ Encryption Algorithm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11480" cy="4114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216152"/>
            <a:ext cx="3840480" cy="457200"/>
          </a:xfrm>
          <a:prstGeom prst="rect">
            <a:avLst/>
          </a:prstGeom>
          <a:solidFill>
            <a:srgbClr val="0D1830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23444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SubCells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834640" y="123444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Sb₀ to each of 16 nibbles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1500" y="1645920"/>
            <a:ext cx="0" cy="155448"/>
          </a:xfrm>
          <a:prstGeom prst="line">
            <a:avLst/>
          </a:prstGeom>
          <a:noFill/>
          <a:ln w="12700">
            <a:solidFill>
              <a:srgbClr val="00C8F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65760" y="1892808"/>
            <a:ext cx="411480" cy="411480"/>
          </a:xfrm>
          <a:prstGeom prst="ellipse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8928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1874520"/>
            <a:ext cx="3840480" cy="457200"/>
          </a:xfrm>
          <a:prstGeom prst="rect">
            <a:avLst/>
          </a:prstGeom>
          <a:solidFill>
            <a:srgbClr val="0D1830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18928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AddConstant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34640" y="18928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state with round constant RCᵢ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1500" y="2304288"/>
            <a:ext cx="0" cy="155448"/>
          </a:xfrm>
          <a:prstGeom prst="line">
            <a:avLst/>
          </a:prstGeom>
          <a:noFill/>
          <a:ln w="12700">
            <a:solidFill>
              <a:srgbClr val="00E67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65760" y="2551176"/>
            <a:ext cx="411480" cy="41148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55117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4400" y="2532888"/>
            <a:ext cx="3840480" cy="457200"/>
          </a:xfrm>
          <a:prstGeom prst="rect">
            <a:avLst/>
          </a:prstGeom>
          <a:solidFill>
            <a:srgbClr val="0D18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255117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AddTweakey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834640" y="255117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state with hⁱ(T) ⊕ k₁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1500" y="2962656"/>
            <a:ext cx="0" cy="155448"/>
          </a:xfrm>
          <a:prstGeom prst="line">
            <a:avLst/>
          </a:prstGeom>
          <a:noFill/>
          <a:ln w="12700">
            <a:solidFill>
              <a:srgbClr val="FFD166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65760" y="3209544"/>
            <a:ext cx="411480" cy="411480"/>
          </a:xfrm>
          <a:prstGeom prst="ellipse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0954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14400" y="3191256"/>
            <a:ext cx="3840480" cy="457200"/>
          </a:xfrm>
          <a:prstGeom prst="rect">
            <a:avLst/>
          </a:prstGeom>
          <a:solidFill>
            <a:srgbClr val="0D1830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320954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7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PermuteCells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834640" y="320954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permutation P to nibble positions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1500" y="3621024"/>
            <a:ext cx="0" cy="155448"/>
          </a:xfrm>
          <a:prstGeom prst="line">
            <a:avLst/>
          </a:prstGeom>
          <a:noFill/>
          <a:ln w="12700">
            <a:solidFill>
              <a:srgbClr val="FF7043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65760" y="3867912"/>
            <a:ext cx="411480" cy="411480"/>
          </a:xfrm>
          <a:prstGeom prst="ellipse">
            <a:avLst/>
          </a:prstGeom>
          <a:solidFill>
            <a:srgbClr val="CE93D8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867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14400" y="3849624"/>
            <a:ext cx="3840480" cy="457200"/>
          </a:xfrm>
          <a:prstGeom prst="rect">
            <a:avLst/>
          </a:prstGeom>
          <a:solidFill>
            <a:srgbClr val="0D1830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386791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MixColumns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834640" y="386791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each column by matrix M over GF(2)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7760" y="1143000"/>
            <a:ext cx="3977640" cy="3767328"/>
          </a:xfrm>
          <a:prstGeom prst="rect">
            <a:avLst/>
          </a:prstGeom>
          <a:solidFill>
            <a:srgbClr val="06101F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74920" y="117043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Encryption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74920" y="1554480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← m ⊕ k₀ ⊕ k₁ ⊕ 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74920" y="1801368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(initial whitening)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74920" y="2084832"/>
            <a:ext cx="3703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 half Hᵣ: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74920" y="2340864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i=1..r: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74920" y="2551176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SubCells → AddRC → AddTK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74920" y="2761488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PermCells → MixCols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74920" y="2971800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SubCells(s)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074920" y="3246120"/>
            <a:ext cx="3703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Middle layer: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074920" y="3474720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M(s) → SubCells(s)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074920" y="3749040"/>
            <a:ext cx="3703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Backward half H⁻¹ᵣ: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74920" y="3986784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i=r..1: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74920" y="4197096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MixCols → P⁻¹ → AddTK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074920" y="4407408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AddRC → SubCells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937760" y="4718304"/>
            <a:ext cx="3977640" cy="274320"/>
          </a:xfrm>
          <a:prstGeom prst="rect">
            <a:avLst/>
          </a:prstGeom>
          <a:solidFill>
            <a:srgbClr val="0E7FA8">
              <a:alpha val="20000"/>
            </a:srgbClr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83480" y="471830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← s ⊕ k′₀ ⊕ k₁ ⊕ α ⊕ 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CONSTANTS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502920"/>
            <a:ext cx="8229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 from π  ·  RC₁ – RC₈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18872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8872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18872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0x13198A2E03707344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18872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8872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18872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03520" y="118872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0xA4093822299F31D0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11480" y="205740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05740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0574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205740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0x082EFA98EC4E6C89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09160" y="205740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05740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20574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205740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0x452821E638D01377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1480" y="292608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292608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" y="292608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0xBE5466CF34E90C6C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09160" y="292608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292608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03520" y="292608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0xC0AC29B7C97C50DD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11480" y="379476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11480" y="379476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37947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05840" y="379476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0x3F84D5B5B5470917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79476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37947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303520" y="379476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0x9216D5D98979FB1B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11480" y="4645152"/>
            <a:ext cx="8503920" cy="34747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4645152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 =  0x243F6A8885A308D3   (used to form  k̄₁ = k₁ ⊕ α,  also derived from π)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11480" y="4572000"/>
            <a:ext cx="850392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 SCHEDULE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64-bit Tweak Permutation 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[6, 5, 14, 15, 0, 1, 2, 3, 7, 12, 13, 4, 8, 9, 10, 11]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5361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h(T)[i] = T[h[i]]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97480" cy="1920240"/>
          </a:xfrm>
          <a:prstGeom prst="rect">
            <a:avLst/>
          </a:prstGeom>
          <a:solidFill>
            <a:srgbClr val="0D1830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011680"/>
            <a:ext cx="269748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12140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Usage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514600"/>
            <a:ext cx="2514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Precomputed sequence h¹(T), h²(T), …, hʳ(T)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rounds 1, 2, …, r respectively.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2011680"/>
            <a:ext cx="2697480" cy="1920240"/>
          </a:xfrm>
          <a:prstGeom prst="rect">
            <a:avLst/>
          </a:prstGeom>
          <a:solidFill>
            <a:srgbClr val="0D1830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2011680"/>
            <a:ext cx="269748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212140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GF Multiplications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2514600"/>
            <a:ext cx="2514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nibble permutation — no Galois-field arithmetic required, keeping the tweak schedule lightweight.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011680"/>
            <a:ext cx="2697480" cy="1920240"/>
          </a:xfrm>
          <a:prstGeom prst="rect">
            <a:avLst/>
          </a:prstGeom>
          <a:solidFill>
            <a:srgbClr val="0D1830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11680"/>
            <a:ext cx="269748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212140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by MILP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514600"/>
            <a:ext cx="2514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h was selected by exhaustive MILP search over 8! candidates to maximise security.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14800"/>
            <a:ext cx="8229600" cy="777240"/>
          </a:xfrm>
          <a:prstGeom prst="rect">
            <a:avLst/>
          </a:prstGeom>
          <a:solidFill>
            <a:srgbClr val="06101F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696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 Security Property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448056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Related-tweak attacks are the primary threat. MILP verified that MANTIS5 admits no related-tweak slide attack with fewer than 2³⁰ chosen plaintext–ciphertext pairs.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TEST VECTORS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Verified against Appendix B.2 of [BJK+16]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1005840"/>
            <a:ext cx="8503920" cy="64008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05840"/>
            <a:ext cx="8321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(k₀∥k₁): </a:t>
            </a:r>
            <a:r>
              <a:rPr lang="en-US" sz="12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92F09952C625E3E9 D7A060F714C0292B</a:t>
            </a: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Tweak: </a:t>
            </a:r>
            <a:r>
              <a:rPr lang="en-US" sz="12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BA912E6F1055FED2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755648"/>
            <a:ext cx="8503920" cy="685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755648"/>
            <a:ext cx="1005840" cy="6858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755648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54480" y="1810512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PT: </a:t>
            </a:r>
            <a:r>
              <a:rPr lang="en-US" sz="12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3B5C77A4921F9718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54480" y="210312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CT: </a:t>
            </a:r>
            <a:r>
              <a:rPr lang="en-US" sz="1200" dirty="0">
                <a:solidFill>
                  <a:srgbClr val="C03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D6522035C1C0C6C1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2523744"/>
            <a:ext cx="8503920" cy="685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523744"/>
            <a:ext cx="1005840" cy="6858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523744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54480" y="257860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PT: </a:t>
            </a:r>
            <a:r>
              <a:rPr lang="en-US" sz="12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D6522035C1C0C6C1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54480" y="2871216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CT: </a:t>
            </a:r>
            <a:r>
              <a:rPr lang="en-US" sz="1200" dirty="0">
                <a:solidFill>
                  <a:srgbClr val="C03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60E43457311936FD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3291840"/>
            <a:ext cx="8503920" cy="685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11480" y="3291840"/>
            <a:ext cx="1005840" cy="6858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291840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MANTIS7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54480" y="334670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PT: </a:t>
            </a:r>
            <a:r>
              <a:rPr lang="en-US" sz="12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60E43457311936FD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54480" y="3639312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CT: </a:t>
            </a:r>
            <a:r>
              <a:rPr lang="en-US" sz="1200" dirty="0">
                <a:solidFill>
                  <a:srgbClr val="C03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308E8A07F168F517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4059936"/>
            <a:ext cx="8503920" cy="685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11480" y="4059936"/>
            <a:ext cx="1005840" cy="6858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4059936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7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MANTIS8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554480" y="41148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PT: </a:t>
            </a:r>
            <a:r>
              <a:rPr lang="en-US" sz="12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308E8A07F168F517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554480" y="440740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CT: </a:t>
            </a:r>
            <a:r>
              <a:rPr lang="en-US" sz="1200" dirty="0">
                <a:solidFill>
                  <a:srgbClr val="C03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971EA01A86B410BB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1480" y="4809744"/>
            <a:ext cx="8503920" cy="256032"/>
          </a:xfrm>
          <a:prstGeom prst="rect">
            <a:avLst/>
          </a:prstGeom>
          <a:solidFill>
            <a:srgbClr val="0E7FA8">
              <a:alpha val="2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4809744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variant's ciphertext is the next variant's plaintext — a chain of cascading test vectors!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NOVEL CIPHER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Key Modifications to MANTIS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475488"/>
          </a:xfrm>
          <a:prstGeom prst="rect">
            <a:avLst/>
          </a:prstGeom>
          <a:solidFill>
            <a:srgbClr val="0A1525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515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A0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round constants and static round-key reuse → predictable differential propagation. Two targeted modifications fix this while preserving MANTIS's lightweight SPN &amp; α-reflection architecture.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664208"/>
            <a:ext cx="4160520" cy="3273552"/>
          </a:xfrm>
          <a:prstGeom prst="rect">
            <a:avLst/>
          </a:prstGeom>
          <a:solidFill>
            <a:srgbClr val="0D1830"/>
          </a:solidFill>
          <a:ln w="19050">
            <a:solidFill>
              <a:srgbClr val="00C8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64208"/>
            <a:ext cx="416052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73736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Dynamic Round Constants via LFSR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176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polynomial: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4140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p(x) = x⁶⁴ + x⁴ + x³ + x + 1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Primitive over GF(2)  →  period = 2⁶⁴ − 1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017520"/>
            <a:ext cx="3474720" cy="0"/>
          </a:xfrm>
          <a:prstGeom prst="line">
            <a:avLst/>
          </a:prstGeom>
          <a:noFill/>
          <a:ln w="12700">
            <a:solidFill>
              <a:srgbClr val="0E7FA8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02920" y="30906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derivation: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3284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RC₀ = K₀ ⊕ 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362102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RCᵢ₊₁ = LFSR(RCᵢ)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968496"/>
            <a:ext cx="3474720" cy="384048"/>
          </a:xfrm>
          <a:prstGeom prst="rect">
            <a:avLst/>
          </a:prstGeom>
          <a:solidFill>
            <a:srgbClr val="060E1C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96849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R₆₃ · · · R₄  R₃  R₂  R₁  R₀  →  ⊕  → feedback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4407408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63, 3, 2, 0 XORed for feedback tap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1664208"/>
            <a:ext cx="4160520" cy="3273552"/>
          </a:xfrm>
          <a:prstGeom prst="rect">
            <a:avLst/>
          </a:prstGeom>
          <a:solidFill>
            <a:srgbClr val="0D1830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0" y="1664208"/>
            <a:ext cx="4160520" cy="457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73736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Rotating Round-Key Schedule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2176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sub-key generation: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4140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RKᵢ = ROR64(K₁, 4i) ⊕ RCᵢ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46320" y="2761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tweakey: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299923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TKᵢ = hⁱ(T) ⊕ RKᵢ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46320" y="3346704"/>
            <a:ext cx="3474720" cy="0"/>
          </a:xfrm>
          <a:prstGeom prst="line">
            <a:avLst/>
          </a:prstGeom>
          <a:noFill/>
          <a:ln w="12700">
            <a:solidFill>
              <a:srgbClr val="0E7FA8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846320" y="34198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half (α-reflection preserved):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36576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E9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Tweakey = hⁱ(T) ⊕ (RKᵢ ⊕ α)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846320" y="4005072"/>
            <a:ext cx="3474720" cy="0"/>
          </a:xfrm>
          <a:prstGeom prst="line">
            <a:avLst/>
          </a:prstGeom>
          <a:noFill/>
          <a:ln w="12700">
            <a:solidFill>
              <a:srgbClr val="0E7FA8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4846320" y="40782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Preserved properties: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4334256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SPN structure unchanged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46320" y="453542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Tweak permutation unchanged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73659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α-reflection decryption intact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NOVEL CIPHER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Generated Round Keys &amp; Performance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024128"/>
            <a:ext cx="4160520" cy="34930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24128"/>
            <a:ext cx="54864" cy="349300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7899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64-bit Round Keys (8 Forward Rounds)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417320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92F09952C625E3E9 D7A060F714C0292B  ·  T = BA912E6F1055FED2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00784"/>
          <a:ext cx="3931920" cy="289560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Round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Round Key (hex)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951BB132A73C1FA9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7B14CE1B5BF4FA5F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333BA6F156B138EF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6A266E4ED377FD1A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8489CEA7610EA2F9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CC1FCC6D6E63507F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546F5DC8E60141A7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241BB7C0EFAEFD5A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Shape 8"/>
          <p:cNvSpPr/>
          <p:nvPr/>
        </p:nvSpPr>
        <p:spPr>
          <a:xfrm>
            <a:off x="4754880" y="1024128"/>
            <a:ext cx="4160520" cy="1828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24128"/>
            <a:ext cx="54864" cy="1828800"/>
          </a:xfrm>
          <a:prstGeom prst="rect">
            <a:avLst/>
          </a:prstGeom>
          <a:solidFill>
            <a:srgbClr val="0E7FA8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37760" y="107899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Benchmark (Python)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35608"/>
          <a:ext cx="3931920" cy="1356968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06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9.165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11.126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enc.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111.26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10,910/s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8,988/s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754880" y="2962656"/>
            <a:ext cx="4160520" cy="202996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54880" y="2962656"/>
            <a:ext cx="54864" cy="202996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937760" y="3017520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Round-Key Generation Flow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892040" y="3493008"/>
            <a:ext cx="64008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892040" y="3493008"/>
            <a:ext cx="640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K₁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532120" y="3694176"/>
            <a:ext cx="164592" cy="0"/>
          </a:xfrm>
          <a:prstGeom prst="line">
            <a:avLst/>
          </a:prstGeom>
          <a:noFill/>
          <a:ln w="12700">
            <a:solidFill>
              <a:srgbClr val="8892A4"/>
            </a:solidFill>
            <a:prstDash val="solid"/>
          </a:ln>
        </p:spPr>
      </p:sp>
      <p:sp>
        <p:nvSpPr>
          <p:cNvPr id="14" name="Shape 17"/>
          <p:cNvSpPr/>
          <p:nvPr/>
        </p:nvSpPr>
        <p:spPr>
          <a:xfrm>
            <a:off x="5696712" y="3493008"/>
            <a:ext cx="146304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00C8F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696712" y="34930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ROR64(K₁, 4i)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159752" y="3694176"/>
            <a:ext cx="164592" cy="0"/>
          </a:xfrm>
          <a:prstGeom prst="line">
            <a:avLst/>
          </a:prstGeom>
          <a:noFill/>
          <a:ln w="12700">
            <a:solidFill>
              <a:srgbClr val="8892A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24344" y="3493008"/>
            <a:ext cx="82296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CE93D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324344" y="3493008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E9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⊕  RCᵢ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147304" y="3694176"/>
            <a:ext cx="164592" cy="0"/>
          </a:xfrm>
          <a:prstGeom prst="line">
            <a:avLst/>
          </a:prstGeom>
          <a:noFill/>
          <a:ln w="12700">
            <a:solidFill>
              <a:srgbClr val="8892A4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11896" y="3493008"/>
            <a:ext cx="73152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00E676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311896" y="3493008"/>
            <a:ext cx="731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RKᵢ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4892040" y="4059936"/>
            <a:ext cx="64008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0E7FA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892040" y="4059936"/>
            <a:ext cx="640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hⁱ(T)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5532120" y="4261104"/>
            <a:ext cx="182880" cy="0"/>
          </a:xfrm>
          <a:prstGeom prst="line">
            <a:avLst/>
          </a:prstGeom>
          <a:noFill/>
          <a:ln w="12700">
            <a:solidFill>
              <a:srgbClr val="8892A4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715000" y="4059936"/>
            <a:ext cx="82296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CE93D8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715000" y="4059936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E9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⊕  RKᵢ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537960" y="4261104"/>
            <a:ext cx="182880" cy="0"/>
          </a:xfrm>
          <a:prstGeom prst="line">
            <a:avLst/>
          </a:prstGeom>
          <a:noFill/>
          <a:ln w="12700">
            <a:solidFill>
              <a:srgbClr val="8892A4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720840" y="4059936"/>
            <a:ext cx="73152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00E67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720840" y="4059936"/>
            <a:ext cx="731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TKᵢ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846320" y="45720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Python benchmark — actual C/FPGA/ASIC performance would be significantly higher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7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Differential Cryptanalysis — DDT &amp; Active S-Boxes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2011680"/>
          </a:xfrm>
          <a:prstGeom prst="rect">
            <a:avLst/>
          </a:prstGeom>
          <a:solidFill>
            <a:srgbClr val="0D1830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78992"/>
            <a:ext cx="4114800" cy="45720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5214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7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S-Box DDT &amp; Differential Properties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3840480" cy="329184"/>
          </a:xfrm>
          <a:prstGeom prst="rect">
            <a:avLst/>
          </a:prstGeom>
          <a:solidFill>
            <a:srgbClr val="0A152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3619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DDT max nontrivial entry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08960" y="153619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901952"/>
            <a:ext cx="3840480" cy="329184"/>
          </a:xfrm>
          <a:prstGeom prst="rect">
            <a:avLst/>
          </a:prstGeom>
          <a:solidFill>
            <a:srgbClr val="0D183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90195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uniformity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08960" y="190195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267712"/>
            <a:ext cx="3840480" cy="329184"/>
          </a:xfrm>
          <a:prstGeom prst="rect">
            <a:avLst/>
          </a:prstGeom>
          <a:solidFill>
            <a:srgbClr val="0A152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6771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DPmax(Sb₀) = 4 / 2⁴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08960" y="226771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2⁻²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33472"/>
            <a:ext cx="3840480" cy="329184"/>
          </a:xfrm>
          <a:prstGeom prst="rect">
            <a:avLst/>
          </a:prstGeom>
          <a:solidFill>
            <a:srgbClr val="0D183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3347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 original MANTIS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108960" y="263347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unchanged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200400"/>
            <a:ext cx="4114800" cy="1737360"/>
          </a:xfrm>
          <a:prstGeom prst="rect">
            <a:avLst/>
          </a:prstGeom>
          <a:solidFill>
            <a:srgbClr val="0D1830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200400"/>
            <a:ext cx="4114800" cy="45720"/>
          </a:xfrm>
          <a:prstGeom prst="rect">
            <a:avLst/>
          </a:prstGeom>
          <a:solidFill>
            <a:srgbClr val="0E7FA8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7355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Active S-Boxes (7-round MANTIS)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39312"/>
          <a:ext cx="3931920" cy="126187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Cipher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 S-Boxes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Trail Bound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Original MANTIS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≤ 2⁻⁴⁰⁸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Novel MANTIS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≤ 2⁻⁴²⁶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800602" y="643472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Round-wise Active S-Box Counts (Table 9)</a:t>
            </a:r>
            <a:endParaRPr lang="en-US" sz="12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625382"/>
              </p:ext>
            </p:extLst>
          </p:nvPr>
        </p:nvGraphicFramePr>
        <p:xfrm>
          <a:off x="4754882" y="1000088"/>
          <a:ext cx="4114800" cy="4160520"/>
        </p:xfrm>
        <a:graphic>
          <a:graphicData uri="http://schemas.openxmlformats.org/drawingml/2006/table">
            <a:tbl>
              <a:tblPr/>
              <a:tblGrid>
                <a:gridCol w="20342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1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63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Layer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Original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Novel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MID_SBOX_1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MID_SBOX_2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C3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CRYPTANALYSIS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Avalanche Analysis &amp; Differential Trails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024128"/>
            <a:ext cx="4114800" cy="1874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24128"/>
            <a:ext cx="54864" cy="1874520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7899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Analysis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4081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Single-bit plaintext flip → measure changed ciphertext bits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09928"/>
          <a:ext cx="3886200" cy="15697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Ideal avalanche (64-bit)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MANTIS 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32.0148 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 MANTIS 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32.0255 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dev (Original)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3.9759 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dev (Novel)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3.9424 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11480" y="2999232"/>
            <a:ext cx="4114800" cy="193852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11480" y="2999232"/>
            <a:ext cx="54864" cy="1938528"/>
          </a:xfrm>
          <a:prstGeom prst="rect">
            <a:avLst/>
          </a:prstGeom>
          <a:solidFill>
            <a:srgbClr val="0E7FA8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10" name="Text 10"/>
          <p:cNvSpPr/>
          <p:nvPr/>
        </p:nvSpPr>
        <p:spPr>
          <a:xfrm>
            <a:off x="594360" y="305409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Comparison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56432"/>
          <a:ext cx="3886200" cy="14173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9.165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11.126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enc.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91.65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111.26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10,910 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8,988 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709160" y="1024128"/>
            <a:ext cx="4206240" cy="1280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09160" y="1024128"/>
            <a:ext cx="54864" cy="12801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892040" y="107899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Trail Probability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892040" y="14081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Ptrail ≤ (2⁻²)ᴺ  where N = total active S-boxes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4892040" y="16824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(N=204):  Ptrail ≤ 2⁻⁴⁰⁸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892040" y="19202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Novel    (N=213):  Ptrail ≤ 2⁻⁴²⁶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709160" y="2414016"/>
            <a:ext cx="4206240" cy="150876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709160" y="2414016"/>
            <a:ext cx="54864" cy="1508760"/>
          </a:xfrm>
          <a:prstGeom prst="rect">
            <a:avLst/>
          </a:prstGeom>
          <a:solidFill>
            <a:srgbClr val="CE93D8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892040" y="2468880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2-Round Reduced Characteristic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4892040" y="2816352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differential:  ΔP = 0x0000000000000001</a:t>
            </a:r>
            <a:endParaRPr lang="en-US" sz="1100" dirty="0"/>
          </a:p>
        </p:txBody>
      </p:sp>
      <p:sp>
        <p:nvSpPr>
          <p:cNvPr id="14" name="Text 21"/>
          <p:cNvSpPr/>
          <p:nvPr/>
        </p:nvSpPr>
        <p:spPr>
          <a:xfrm>
            <a:off x="4892040" y="3063240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1 transition 1→2:   prob = 2⁻²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4892040" y="3310128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2 (3 active S-boxes): (2⁻²)³ = 2⁻⁶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4892040" y="35844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3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P₂-round ≈ 2⁻⁸  →  Data: ~2⁸ pairs, Time: ~2⁹ ops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709160" y="4041648"/>
            <a:ext cx="420624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709160" y="4041648"/>
            <a:ext cx="54864" cy="9601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892040" y="409651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7-Round Trail (FWD layers)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892040" y="4434840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Orig: 1→3→9→16→13→15→15 active S-boxes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892040" y="465429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Novel: 1→3→9→16→16→14→16 active S-boxes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6AEF3-75A5-59F6-84DE-EAB1620F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8B2F8F-7C5E-7C2B-C5FA-DC8DF6CDF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8490" y="-49775"/>
            <a:ext cx="9311147" cy="523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9290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E93D8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 Cryptanalysis on MANTIS5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117043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4264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Nibble takes all 16 values exactly once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1115568"/>
            <a:ext cx="457200" cy="457200"/>
          </a:xfrm>
          <a:prstGeom prst="ellipse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115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90672" y="117043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90672" y="14264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Nibble is fixed across all plaintexts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15568"/>
            <a:ext cx="457200" cy="45720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115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85232" y="117043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85232" y="14264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sum of nibble values =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440" y="1115568"/>
            <a:ext cx="457200" cy="457200"/>
          </a:xfrm>
          <a:prstGeom prst="ellipse">
            <a:avLst/>
          </a:prstGeom>
          <a:solidFill>
            <a:srgbClr val="8892A4"/>
          </a:solidFill>
          <a:ln w="12700">
            <a:solidFill>
              <a:srgbClr val="8892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115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479792" y="117043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79792" y="14264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predictable algebraic property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1920240"/>
            <a:ext cx="4206240" cy="2560320"/>
          </a:xfrm>
          <a:prstGeom prst="rect">
            <a:avLst/>
          </a:prstGeom>
          <a:solidFill>
            <a:srgbClr val="0D1830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199339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5-Round Attack Strategy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2377440"/>
            <a:ext cx="3931920" cy="2029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Distinguisher (Rounds 1–4):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16 chosen plaintexts (1 active nibble).
  After 4 rounds → balanced nibbles appear.
  Propagation: A → 3A+C → multiple A → B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Key Recovery (Round 5):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Partially decrypt from ciphertext side.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Guess 4×4 = 16 key bits per column.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Check balanced property holds.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1920240"/>
            <a:ext cx="4114800" cy="2560320"/>
          </a:xfrm>
          <a:prstGeom prst="rect">
            <a:avLst/>
          </a:prstGeom>
          <a:solidFill>
            <a:srgbClr val="0D18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199339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Summary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2395728"/>
          <a:ext cx="3840480" cy="201168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2⁶ chosen plaintexts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2¹⁹·⁷ equiv. encryptions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2¹⁰ MANTIS states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bits guessed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(vs 64 exhaustive)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A8756-AF20-C0B2-5E81-B2CF09BA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2767CB6-BD33-3C2F-6347-0FAD326E9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8658" y="-44245"/>
            <a:ext cx="9360310" cy="526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429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FF4444"/>
          </a:solidFill>
          <a:ln w="12700">
            <a:solidFill>
              <a:srgbClr val="F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WEAKNESSES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Known Limitations of MANTIS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024128"/>
            <a:ext cx="8503920" cy="12070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188720"/>
            <a:ext cx="640080" cy="640080"/>
          </a:xfrm>
          <a:prstGeom prst="ellipse">
            <a:avLst/>
          </a:prstGeom>
          <a:solidFill>
            <a:srgbClr val="FF4444"/>
          </a:solidFill>
          <a:ln w="12700">
            <a:solidFill>
              <a:srgbClr val="F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61872" y="1097280"/>
            <a:ext cx="7498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Related-Key Distinguisher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61872" y="1426464"/>
            <a:ext cx="7406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α-reflection property implies a probability-one distinguisher in the related-key model.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keys (k₀,k′₀,k₁) and (k′₀,k₀,k₁⊕α): encryption under one ≡ decryption under the other.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Designers explicitly state MANTIS does not claim strong related-key security.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1480" y="2322576"/>
            <a:ext cx="8503920" cy="12070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2487168"/>
            <a:ext cx="640080" cy="64008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61872" y="2395728"/>
            <a:ext cx="7498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Reduced-Round Integral Distinguishers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61872" y="2724912"/>
            <a:ext cx="7406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diffusion enables integral properties to survive multiple rounds.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nibble relations remain observable for ~4 rounds before becoming unknown.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MANTIS5 has a smaller security margin against integral-style distinguishers.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621024"/>
            <a:ext cx="8503920" cy="12070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785616"/>
            <a:ext cx="640080" cy="6400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78561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61872" y="3694176"/>
            <a:ext cx="7498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Birthday-Bound Block Size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61872" y="4023360"/>
            <a:ext cx="7406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64-bit block size → birthday bound of 2³² blocks.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usage requires proper tweak management to avoid collisions and repeated-state phenomena.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Use the memory address as tweak to ensure unique (key, tweak) pairs.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023360" cy="4023360"/>
          </a:xfrm>
          <a:prstGeom prst="ellipse">
            <a:avLst/>
          </a:prstGeom>
          <a:solidFill>
            <a:srgbClr val="00C8FF">
              <a:alpha val="6000"/>
            </a:srgbClr>
          </a:solidFill>
          <a:ln w="12700">
            <a:solidFill>
              <a:srgbClr val="00C8FF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3200400"/>
            <a:ext cx="2743200" cy="2743200"/>
          </a:xfrm>
          <a:prstGeom prst="ellipse">
            <a:avLst/>
          </a:prstGeom>
          <a:solidFill>
            <a:srgbClr val="00C8FF">
              <a:alpha val="6000"/>
            </a:srgbClr>
          </a:solidFill>
          <a:ln w="12700">
            <a:solidFill>
              <a:srgbClr val="00C8F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-640080"/>
            <a:ext cx="6400800" cy="6400800"/>
          </a:xfrm>
          <a:prstGeom prst="ellipse">
            <a:avLst/>
          </a:prstGeom>
          <a:solidFill>
            <a:srgbClr val="00C8FF">
              <a:alpha val="6000"/>
            </a:srgbClr>
          </a:solidFill>
          <a:ln w="12700">
            <a:solidFill>
              <a:srgbClr val="00C8FF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46304"/>
            <a:ext cx="2011680" cy="34747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630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BROWNIE POINTS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566928"/>
            <a:ext cx="7132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Mantis Cipher Explorer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11480" y="126187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3D simulation &amp; analysis tool for the MANTIS block cipher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1664208"/>
            <a:ext cx="4114800" cy="457200"/>
          </a:xfrm>
          <a:prstGeom prst="rect">
            <a:avLst/>
          </a:prstGeom>
          <a:solidFill>
            <a:srgbClr val="0A1225"/>
          </a:solidFill>
          <a:ln w="1905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Live Demo: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45920" y="1664208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action="ppaction://hlinkfile"/>
              </a:rPr>
              <a:t>mantis-cipher-explorer.vercel.app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27448" y="1664208"/>
            <a:ext cx="4114800" cy="457200"/>
          </a:xfrm>
          <a:prstGeom prst="rect">
            <a:avLst/>
          </a:prstGeom>
          <a:solidFill>
            <a:srgbClr val="0A1225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664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Source Code: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61888" y="1664208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action="ppaction://hlinkfile"/>
              </a:rPr>
              <a:t>github.com/Swarnadip-Kar/mantis-cipher-explorer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231136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1480" y="2231136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0428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2304288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3D Simulation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4632" y="2752344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3D viz of cipher state matrix (encryption &amp; decryption) built with React &amp; React Three Fiber.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319272" y="2231136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19272" y="2231136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230428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822192" y="2304288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Accuracy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92424" y="2752344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follows MANTIS spec — SubCells, MixColumns, AddTweakey, ShuffleCells, all 4 official test vectors verified.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27064" y="2231136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27064" y="2231136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27064" y="230428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729984" y="2304288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Parameters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300216" y="2752344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MANTIS-5 through MANTIS-8 and beyond. Customizable Plaintext, Key₀, Key₁, Tweak via control panel.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3584448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11480" y="3584448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3657600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914400" y="3657600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Attack Analysis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4632" y="4105656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XOR diff Δin, observe propagation, highlight active cells, display Δout after each round.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19272" y="3584448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319272" y="3584448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19272" y="3657600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822192" y="3657600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 Attack Analysis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392424" y="4105656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16-plaintext structure sweeps one nibble. XOR sum tracked round-by-round until balanced property vanishes.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27064" y="3584448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227064" y="3584448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27064" y="3657600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🌟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6729984" y="3657600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UI/UX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00216" y="4105656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Dark-themed, Framer Motion animations, detailed operation tracking. React 19 + Tailwind CSS + Drei.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15DAA70-F201-8C77-6A29-C634CE76C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" y="7951"/>
            <a:ext cx="9144000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23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VARIANT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Key–Tweak-Seeded Round Schedule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743200" cy="2305878"/>
          </a:xfrm>
          <a:prstGeom prst="rect">
            <a:avLst/>
          </a:prstGeom>
          <a:solidFill>
            <a:srgbClr val="0D1830"/>
          </a:solidFill>
          <a:ln w="19050">
            <a:solidFill>
              <a:srgbClr val="00C8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97280"/>
            <a:ext cx="27432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LFSR-Based Round Constants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27632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Seed: r₀ = k₀ ⊕ 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Sequence: rᵢ = LFSR(rᵢ₋₁)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LFSR(x) = (x≪1) ⊕ feedback(bits 63,3,2,0)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Replaces fixed RC₁…RCᵣ with key- and tweak-dependent values.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743200" cy="2305878"/>
          </a:xfrm>
          <a:prstGeom prst="rect">
            <a:avLst/>
          </a:prstGeom>
          <a:solidFill>
            <a:srgbClr val="0D1830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097280"/>
            <a:ext cx="274320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188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Key-Dependent Sub-Keys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0" y="1627632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i sub-key: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rkᵢ = ROR64(k₁, 4i) ⊕ rᵢ₋₁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 tweakey: hⁱ(T) ⊕ rkᵢ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Backward tweakey: hⁱ(T) ⊕ (rkᵢ ⊕ α)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Preserves α-reflection decryption structure.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097280"/>
            <a:ext cx="2743200" cy="2305878"/>
          </a:xfrm>
          <a:prstGeom prst="rect">
            <a:avLst/>
          </a:prstGeom>
          <a:solidFill>
            <a:srgbClr val="0D1830"/>
          </a:solidFill>
          <a:ln w="19050">
            <a:solidFill>
              <a:srgbClr val="CE93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097280"/>
            <a:ext cx="2743200" cy="54864"/>
          </a:xfrm>
          <a:prstGeom prst="rect">
            <a:avLst/>
          </a:prstGeom>
          <a:solidFill>
            <a:srgbClr val="CE93D8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188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Round Counts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1627632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MANTIS: r ∈ {5,6,7,8} only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Novel variant: any r ≥ 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Tested: r = 5, 9, 12, 27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Enables exploration of security–latency trade-offs beyond the original design space.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5760" y="349453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Variant Test Vectors (same Key &amp; Tweak as official)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6483908"/>
              </p:ext>
            </p:extLst>
          </p:nvPr>
        </p:nvGraphicFramePr>
        <p:xfrm>
          <a:off x="365760" y="3832860"/>
          <a:ext cx="8503920" cy="131064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Plaintext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Ciphertext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3B5C77A4921F9718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141783D63FCB272E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D6522035C1C0C6C1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708B16A570A23941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60E43457311936FD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83E42E3E42681D75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308E8A07F168F517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108AF35E94342A33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99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MANTIS Shines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024128"/>
            <a:ext cx="2743200" cy="393192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24128"/>
            <a:ext cx="27432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1556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🖥️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Encryption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1488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use case — IBM SecureBlue++, Intel SGX. Every cache-line read/write encrypted on the critical path. Memory address serves as the tweak, providing natural sector isolation without IV management overhead.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858768"/>
            <a:ext cx="2560320" cy="292608"/>
          </a:xfrm>
          <a:prstGeom prst="rect">
            <a:avLst/>
          </a:prstGeom>
          <a:solidFill>
            <a:srgbClr val="00C8FF">
              <a:alpha val="15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85876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Single-cycle latency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206240"/>
            <a:ext cx="2560320" cy="292608"/>
          </a:xfrm>
          <a:prstGeom prst="rect">
            <a:avLst/>
          </a:prstGeom>
          <a:solidFill>
            <a:srgbClr val="00C8FF">
              <a:alpha val="15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20624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Zero decrypt overhead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4553712"/>
            <a:ext cx="2560320" cy="292608"/>
          </a:xfrm>
          <a:prstGeom prst="rect">
            <a:avLst/>
          </a:prstGeom>
          <a:solidFill>
            <a:srgbClr val="00C8FF">
              <a:alpha val="15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5537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Tweak = memory address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19272" y="1024128"/>
            <a:ext cx="2743200" cy="393192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19272" y="1024128"/>
            <a:ext cx="274320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9272" y="111556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410712" y="171907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&amp; Embedded Systems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10712" y="21488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MANTIS5 requires only 8,544 GE at 15.95 ns (UMC 180 nm). Marginal area over PRINCE while gaining a full tweak input. Ideal for sensor-address binding in embedded deployments.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410712" y="3858768"/>
            <a:ext cx="2560320" cy="292608"/>
          </a:xfrm>
          <a:prstGeom prst="rect">
            <a:avLst/>
          </a:prstGeom>
          <a:solidFill>
            <a:srgbClr val="00E676">
              <a:alpha val="15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56432" y="385876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8,544 GE gate count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10712" y="4206240"/>
            <a:ext cx="2560320" cy="292608"/>
          </a:xfrm>
          <a:prstGeom prst="rect">
            <a:avLst/>
          </a:prstGeom>
          <a:solidFill>
            <a:srgbClr val="00E676">
              <a:alpha val="15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56432" y="420624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15.95 ns latency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10712" y="4553712"/>
            <a:ext cx="2560320" cy="292608"/>
          </a:xfrm>
          <a:prstGeom prst="rect">
            <a:avLst/>
          </a:prstGeom>
          <a:solidFill>
            <a:srgbClr val="00E676">
              <a:alpha val="15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56432" y="45537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Tweak binds sensor ID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27064" y="1024128"/>
            <a:ext cx="2743200" cy="393192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27064" y="1024128"/>
            <a:ext cx="274320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27064" y="111556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🏷️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318504" y="171907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PRESENT / AES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318504" y="21488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(ISO/IEC 29192-2) targets passive RFID (1,570 GE). AES dominates general-purpose usage. MANTIS fills the gap: active processors needing low-latency decryption with tweak support.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318504" y="3858768"/>
            <a:ext cx="2560320" cy="292608"/>
          </a:xfrm>
          <a:prstGeom prst="rect">
            <a:avLst/>
          </a:prstGeom>
          <a:solidFill>
            <a:srgbClr val="FFD166">
              <a:alpha val="1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64224" y="385876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Active processor niche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318504" y="4206240"/>
            <a:ext cx="2560320" cy="292608"/>
          </a:xfrm>
          <a:prstGeom prst="rect">
            <a:avLst/>
          </a:prstGeom>
          <a:solidFill>
            <a:srgbClr val="FFD166">
              <a:alpha val="1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64224" y="420624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Tweak beats PRESENT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318504" y="4553712"/>
            <a:ext cx="2560320" cy="292608"/>
          </a:xfrm>
          <a:prstGeom prst="rect">
            <a:avLst/>
          </a:prstGeom>
          <a:solidFill>
            <a:srgbClr val="FFD166">
              <a:alpha val="1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64224" y="45537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Better latency than AES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FA8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CSL505 Cryptography  ·  IIT Bhilai  ·  Winter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 &amp; Takeaways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116128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MANTISᵣ specification: S-box, PermuteCells, MixColumns, tweak schedule, FX-construction key schedule.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709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1728216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for MANTIS5 verified against official test vectors [BJK+16]; MANTIS6–8 also confirmed.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2768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229514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analysis: DDT, active S-boxes (orig 204 vs novel 213), avalanche ~32 bits, trail prob ≤ 2⁻⁴²⁶ (novel).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843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28620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 distinguisher (2⁶ data, 2¹⁹·⁷ time, 2¹⁰ memory) on 5-round MANTIS. 3 structural weaknesses noted.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374136"/>
            <a:ext cx="8412480" cy="566928"/>
          </a:xfrm>
          <a:prstGeom prst="rect">
            <a:avLst/>
          </a:prstGeom>
          <a:solidFill>
            <a:srgbClr val="FFD166">
              <a:alpha val="12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410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" y="34290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variant: LFSR-seeded constants + rotation sub-keys + arbitrary r ≥ 1 · Cipher Explorer deployed at vercel.app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399592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 = best balance of latency, area, and tweakability for active-processor memory encryption.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2624</Words>
  <Application>Microsoft Macintosh PowerPoint</Application>
  <PresentationFormat>On-screen Show (16:9)</PresentationFormat>
  <Paragraphs>544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MANTIS: A Low-Latency Tweakable Block Cipher</dc:title>
  <dc:subject>PptxGenJS Presentation</dc:subject>
  <dc:creator>PptxGenJS</dc:creator>
  <cp:lastModifiedBy>Swarnadip Kar</cp:lastModifiedBy>
  <cp:revision>8</cp:revision>
  <dcterms:created xsi:type="dcterms:W3CDTF">2026-05-10T03:21:27Z</dcterms:created>
  <dcterms:modified xsi:type="dcterms:W3CDTF">2026-05-10T04:48:49Z</dcterms:modified>
</cp:coreProperties>
</file>