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75" r:id="rId14"/>
    <p:sldId id="268" r:id="rId15"/>
    <p:sldId id="276" r:id="rId16"/>
    <p:sldId id="270" r:id="rId17"/>
    <p:sldId id="274" r:id="rId18"/>
    <p:sldId id="271" r:id="rId19"/>
    <p:sldId id="272" r:id="rId20"/>
    <p:sldId id="273" r:id="rId2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008"/>
    <p:restoredTop sz="94610"/>
  </p:normalViewPr>
  <p:slideViewPr>
    <p:cSldViewPr snapToGrid="0" snapToObjects="1">
      <p:cViewPr>
        <p:scale>
          <a:sx n="130" d="100"/>
          <a:sy n="130" d="100"/>
        </p:scale>
        <p:origin x="1144" y="6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345983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41C9A7-A4D3-1122-798E-655059024C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07C64A-5A05-7462-17BE-42B285D349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3A8674-F878-478A-FC3E-A0FDBF05F4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17A939-FD92-6A49-5B7F-C78566B320C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62370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067131-5E3C-5A81-E1A4-12E546E7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F824F7-DF52-D265-26F3-1E4656FF77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1839FB-4399-5D5B-628F-74267FE08B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B3459C-E9D5-5C21-A069-977008D2FBB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455812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mantis-cipher-explorer.vercel.app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hyperlink" Target="github.com/Swarnadip-Kar/mantis-cipher-explorer" TargetMode="Externa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46720" y="-274320"/>
            <a:ext cx="2743200" cy="2743200"/>
          </a:xfrm>
          <a:prstGeom prst="ellipse">
            <a:avLst/>
          </a:prstGeom>
          <a:solidFill>
            <a:srgbClr val="0E7FA8">
              <a:alpha val="15000"/>
            </a:srgbClr>
          </a:solidFill>
          <a:ln w="12700">
            <a:solidFill>
              <a:srgbClr val="00C8FF">
                <a:alpha val="4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1097280"/>
            <a:ext cx="1463040" cy="1463040"/>
          </a:xfrm>
          <a:prstGeom prst="ellipse">
            <a:avLst/>
          </a:prstGeom>
          <a:solidFill>
            <a:srgbClr val="0E7FA8">
              <a:alpha val="15000"/>
            </a:srgbClr>
          </a:solidFill>
          <a:ln w="12700">
            <a:solidFill>
              <a:srgbClr val="00C8FF">
                <a:alpha val="4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06640" y="1280160"/>
            <a:ext cx="914400" cy="914400"/>
          </a:xfrm>
          <a:prstGeom prst="ellipse">
            <a:avLst/>
          </a:prstGeom>
          <a:solidFill>
            <a:srgbClr val="0E7FA8">
              <a:alpha val="15000"/>
            </a:srgbClr>
          </a:solidFill>
          <a:ln w="12700">
            <a:solidFill>
              <a:srgbClr val="00C8FF">
                <a:alpha val="4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82880" y="4389120"/>
            <a:ext cx="1828800" cy="1828800"/>
          </a:xfrm>
          <a:prstGeom prst="ellipse">
            <a:avLst/>
          </a:prstGeom>
          <a:solidFill>
            <a:srgbClr val="0E7FA8">
              <a:alpha val="15000"/>
            </a:srgbClr>
          </a:solidFill>
          <a:ln w="12700">
            <a:solidFill>
              <a:srgbClr val="00C8FF">
                <a:alpha val="4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-365760" y="3200400"/>
            <a:ext cx="1280160" cy="1280160"/>
          </a:xfrm>
          <a:prstGeom prst="ellipse">
            <a:avLst/>
          </a:prstGeom>
          <a:solidFill>
            <a:srgbClr val="0E7FA8">
              <a:alpha val="15000"/>
            </a:srgbClr>
          </a:solidFill>
          <a:ln w="12700">
            <a:solidFill>
              <a:srgbClr val="00C8FF">
                <a:alpha val="4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56032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CSL505 CRYPTOGRAPHY  ·  TERM PAPER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48640" y="64008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MANTIS</a:t>
            </a:r>
            <a:endParaRPr lang="en-US" sz="7200" dirty="0"/>
          </a:p>
        </p:txBody>
      </p:sp>
      <p:sp>
        <p:nvSpPr>
          <p:cNvPr id="10" name="Text 8"/>
          <p:cNvSpPr/>
          <p:nvPr/>
        </p:nvSpPr>
        <p:spPr>
          <a:xfrm>
            <a:off x="548640" y="187452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Low-Latency Tweakable Block Cipher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2487168"/>
            <a:ext cx="3200400" cy="36576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615184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Design, Analysis &amp; a Novel Variant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3200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Agastya Nath  ·  Swarnadip Kar  ·  Divyansh Dubey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48640" y="35204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 Institute of Technology Bhilai  ·  Winter 2026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4114800"/>
            <a:ext cx="2560320" cy="347472"/>
          </a:xfrm>
          <a:prstGeom prst="roundRect">
            <a:avLst>
              <a:gd name="adj" fmla="val 13158"/>
            </a:avLst>
          </a:prstGeom>
          <a:solidFill>
            <a:srgbClr val="0E7FA8">
              <a:alpha val="40000"/>
            </a:srgbClr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4114800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Cipher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383280" y="4114800"/>
            <a:ext cx="2560320" cy="347472"/>
          </a:xfrm>
          <a:prstGeom prst="roundRect">
            <a:avLst>
              <a:gd name="adj" fmla="val 13158"/>
            </a:avLst>
          </a:prstGeom>
          <a:solidFill>
            <a:srgbClr val="0E7FA8">
              <a:alpha val="40000"/>
            </a:srgbClr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383280" y="4114800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217920" y="4114800"/>
            <a:ext cx="2560320" cy="347472"/>
          </a:xfrm>
          <a:prstGeom prst="roundRect">
            <a:avLst>
              <a:gd name="adj" fmla="val 13158"/>
            </a:avLst>
          </a:prstGeom>
          <a:solidFill>
            <a:srgbClr val="0E7FA8">
              <a:alpha val="40000"/>
            </a:srgbClr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217920" y="4114800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Low-Latency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48640" y="4572000"/>
            <a:ext cx="2560320" cy="347472"/>
          </a:xfrm>
          <a:prstGeom prst="roundRect">
            <a:avLst>
              <a:gd name="adj" fmla="val 13158"/>
            </a:avLst>
          </a:prstGeom>
          <a:solidFill>
            <a:srgbClr val="0E7FA8">
              <a:alpha val="40000"/>
            </a:srgbClr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4572000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Encryption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383280" y="4572000"/>
            <a:ext cx="2560320" cy="347472"/>
          </a:xfrm>
          <a:prstGeom prst="roundRect">
            <a:avLst>
              <a:gd name="adj" fmla="val 13158"/>
            </a:avLst>
          </a:prstGeom>
          <a:solidFill>
            <a:srgbClr val="0E7FA8">
              <a:alpha val="40000"/>
            </a:srgbClr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383280" y="4572000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α-Reflection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217920" y="4572000"/>
            <a:ext cx="2560320" cy="347472"/>
          </a:xfrm>
          <a:prstGeom prst="roundRect">
            <a:avLst>
              <a:gd name="adj" fmla="val 13158"/>
            </a:avLst>
          </a:prstGeom>
          <a:solidFill>
            <a:srgbClr val="0E7FA8">
              <a:alpha val="40000"/>
            </a:srgbClr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17920" y="4572000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SKINNY / MIDORI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A0E1A"/>
          </a:solidFill>
          <a:ln w="12700">
            <a:solidFill>
              <a:srgbClr val="0A0E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73152" cy="5143500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201168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E7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53035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MANTIS?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411480" y="1325880"/>
            <a:ext cx="2743200" cy="3291840"/>
          </a:xfrm>
          <a:prstGeom prst="rect">
            <a:avLst/>
          </a:prstGeom>
          <a:solidFill>
            <a:srgbClr val="F4F7FB"/>
          </a:solidFill>
          <a:ln w="12700">
            <a:solidFill>
              <a:srgbClr val="D0D8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11480" y="1325880"/>
            <a:ext cx="2743200" cy="54864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6304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⚡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521208" y="2157984"/>
            <a:ext cx="252374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Latency Problem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39496" y="2706624"/>
            <a:ext cx="2487168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 (10 rounds) is too slow for cache-line memory encryption — every read/write must be protected within a single clock cycle.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19272" y="1325880"/>
            <a:ext cx="2743200" cy="3291840"/>
          </a:xfrm>
          <a:prstGeom prst="rect">
            <a:avLst/>
          </a:prstGeom>
          <a:solidFill>
            <a:srgbClr val="F4F7FB"/>
          </a:solidFill>
          <a:ln w="12700">
            <a:solidFill>
              <a:srgbClr val="D0D8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319272" y="1325880"/>
            <a:ext cx="2743200" cy="54864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19272" y="146304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🔑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3429000" y="2157984"/>
            <a:ext cx="252374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Tweak Input Needed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447288" y="2706624"/>
            <a:ext cx="2487168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&amp; SIMON reduce gate count but lack a tweak input for sector-level data isolation. Standard ciphers require costly re-keying.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27064" y="1325880"/>
            <a:ext cx="2743200" cy="3291840"/>
          </a:xfrm>
          <a:prstGeom prst="rect">
            <a:avLst/>
          </a:prstGeom>
          <a:solidFill>
            <a:srgbClr val="F4F7FB"/>
          </a:solidFill>
          <a:ln w="12700">
            <a:solidFill>
              <a:srgbClr val="D0D8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27064" y="1325880"/>
            <a:ext cx="2743200" cy="54864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27064" y="146304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🔁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6336792" y="2157984"/>
            <a:ext cx="252374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Decryption Overhead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355080" y="2706624"/>
            <a:ext cx="2487168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decrypt circuits double hardware cost. PRINCE introduced α-reflection; MANTIS extends this with a full 64-bit tweak.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11480" y="4709160"/>
            <a:ext cx="8503920" cy="274320"/>
          </a:xfrm>
          <a:prstGeom prst="rect">
            <a:avLst/>
          </a:prstGeom>
          <a:solidFill>
            <a:srgbClr val="0A0E1A"/>
          </a:solidFill>
          <a:ln w="12700">
            <a:solidFill>
              <a:srgbClr val="0A0E1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1480" y="4709160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MANTIS proposed by Beierle et al. at CRYPTO 2016 as part of the SKINNY cipher family [BJK+16]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CIPHER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MANTIS Parameters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70432"/>
          <a:ext cx="5303520" cy="3291840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FA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F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C8D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 size 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C8D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 bits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8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C8D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size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C8D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 bits  (k₀ ∥ k₁, each 64 bits)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8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C8D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Tweak size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C8D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 bits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8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C8D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Half-round count 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C8D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(MANTIS5) to 8 (MANTIS8)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8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C8D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Cell size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C8D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bits (nibble)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8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C8D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 layout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C8D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× 4 array of nibbles (row-wise)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8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C8D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Decryption overhead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C8D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Zero — same circuit, swapped keys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8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035040" y="1170432"/>
            <a:ext cx="2834640" cy="3291840"/>
          </a:xfrm>
          <a:prstGeom prst="rect">
            <a:avLst/>
          </a:prstGeom>
          <a:solidFill>
            <a:srgbClr val="0D1830"/>
          </a:solidFill>
          <a:ln w="12700">
            <a:solidFill>
              <a:srgbClr val="0E7FA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126480" y="12344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Schedule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126480" y="1645920"/>
            <a:ext cx="26517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D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k′₀ = ROR64(k₀, 1)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D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k̄₁ = k₁ ⊕ α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i="1" dirty="0">
                <a:solidFill>
                  <a:srgbClr val="8892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α = 0x243F6A88</a:t>
            </a:r>
            <a:endParaRPr lang="en-US" sz="1200" dirty="0"/>
          </a:p>
          <a:p>
            <a:pPr marL="0" indent="0">
              <a:buNone/>
            </a:pPr>
            <a:r>
              <a:rPr lang="en-US" sz="1200" i="1" dirty="0">
                <a:solidFill>
                  <a:srgbClr val="8892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85A308D3</a:t>
            </a:r>
            <a:endParaRPr lang="en-US" sz="1200" dirty="0"/>
          </a:p>
          <a:p>
            <a:pPr marL="0" indent="0">
              <a:buNone/>
            </a:pPr>
            <a:r>
              <a:rPr lang="en-US" sz="1200" i="1" dirty="0">
                <a:solidFill>
                  <a:srgbClr val="8892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(from π digits)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035040" y="3200400"/>
            <a:ext cx="2834640" cy="1261872"/>
          </a:xfrm>
          <a:prstGeom prst="rect">
            <a:avLst/>
          </a:prstGeom>
          <a:solidFill>
            <a:srgbClr val="06101F"/>
          </a:solidFill>
          <a:ln w="12700">
            <a:solidFill>
              <a:srgbClr val="0E7FA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126480" y="3255264"/>
            <a:ext cx="2651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FX-Construction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126480" y="3611880"/>
            <a:ext cx="26517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0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 and post-whitening keys k₀ and k′₀ wrap the keyed permutation, boosting security of the inner cipher.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57200" y="4617720"/>
            <a:ext cx="8412480" cy="347472"/>
          </a:xfrm>
          <a:prstGeom prst="rect">
            <a:avLst/>
          </a:prstGeom>
          <a:solidFill>
            <a:srgbClr val="0E7FA8">
              <a:alpha val="30000"/>
            </a:srgbClr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57200" y="461772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α-Reflection: Dec(k₀,k′₀,k₁)(·,T) = Enc(k′₀,k₀,k₁⊕α)(·,T)  —  Decryption is free hardware!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A0E1A"/>
          </a:solidFill>
          <a:ln w="12700">
            <a:solidFill>
              <a:srgbClr val="0A0E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73152" cy="5143500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20116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0E7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CIPHER COMPONENTS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47548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S-Box · PermuteCells · MixColumns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11480" y="1143000"/>
            <a:ext cx="8503920" cy="1508760"/>
          </a:xfrm>
          <a:prstGeom prst="rect">
            <a:avLst/>
          </a:prstGeom>
          <a:solidFill>
            <a:srgbClr val="F4F7FB"/>
          </a:solidFill>
          <a:ln w="12700">
            <a:solidFill>
              <a:srgbClr val="D0D8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11480" y="1143000"/>
            <a:ext cx="54864" cy="1508760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207008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Involutory MIDORI S-Box Sb₀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94360" y="151790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Sb₀ ∘ Sb₀ = id  (same table for encrypt &amp; decrypt)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847088"/>
          <a:ext cx="8083296" cy="457200"/>
        </p:xfrm>
        <a:graphic>
          <a:graphicData uri="http://schemas.openxmlformats.org/drawingml/2006/table">
            <a:tbl>
              <a:tblPr/>
              <a:tblGrid>
                <a:gridCol w="4754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FA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FA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FA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FA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FA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FA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FA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FA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FA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9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FA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FA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FA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FA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FA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FA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F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0C8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Sb₀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9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594360" y="2340864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446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DPmax = 2⁻²  ·  εmax = 2⁻²  (optimal for involutory 4-bit S-boxes)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11480" y="2670048"/>
            <a:ext cx="4114800" cy="1554480"/>
          </a:xfrm>
          <a:prstGeom prst="rect">
            <a:avLst/>
          </a:prstGeom>
          <a:solidFill>
            <a:srgbClr val="F4F7FB"/>
          </a:solidFill>
          <a:ln w="12700">
            <a:solidFill>
              <a:srgbClr val="D0D8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11480" y="2670048"/>
            <a:ext cx="54864" cy="1554480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94360" y="2734056"/>
            <a:ext cx="3749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PermuteCells (MIDORI P)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594360" y="3081528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44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Permutes 16 nibbles of the 4×4 state array.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44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Maximises active S-boxes vs PRINCE permutation.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594360" y="361188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E7F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P:   0→0  1→11  2→6  3→13  4→10  5→1  6→12  7→7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E7F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8→5  9→14  10→3  11→8  12→15  13→4  14→9  15→2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709160" y="2670048"/>
            <a:ext cx="4206240" cy="1554480"/>
          </a:xfrm>
          <a:prstGeom prst="rect">
            <a:avLst/>
          </a:prstGeom>
          <a:solidFill>
            <a:srgbClr val="F4F7FB"/>
          </a:solidFill>
          <a:ln w="12700">
            <a:solidFill>
              <a:srgbClr val="D0D8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709160" y="2670048"/>
            <a:ext cx="54864" cy="1554480"/>
          </a:xfrm>
          <a:prstGeom prst="rect">
            <a:avLst/>
          </a:prstGeom>
          <a:solidFill>
            <a:srgbClr val="EF6C00"/>
          </a:solidFill>
          <a:ln w="12700">
            <a:solidFill>
              <a:srgbClr val="EF6C0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892040" y="2734056"/>
            <a:ext cx="3749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MixColumns (Involutory)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4892040" y="3081528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44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matrix M over GF(2), applied per column.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44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M² = I → same circuit for encrypt &amp; decrypt.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4892040" y="361188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E7F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= | 0 1 1 1 |     Branch number 4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E7F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| 1 0 1 1 |     M² = I (involutory)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E7F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| 1 1 0 1 |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E7F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| 1 1 1 0 |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FUNCTION &amp; ENCRYPTION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MANTISᵣ Encryption Algorithm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411480" cy="411480"/>
          </a:xfrm>
          <a:prstGeom prst="ellipse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2344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A0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914400" y="1216152"/>
            <a:ext cx="3840480" cy="457200"/>
          </a:xfrm>
          <a:prstGeom prst="rect">
            <a:avLst/>
          </a:prstGeom>
          <a:solidFill>
            <a:srgbClr val="0D1830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1234440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SubCells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834640" y="1234440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Sb₀ to each of 16 nibbles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71500" y="1645920"/>
            <a:ext cx="0" cy="155448"/>
          </a:xfrm>
          <a:prstGeom prst="line">
            <a:avLst/>
          </a:prstGeom>
          <a:noFill/>
          <a:ln w="12700">
            <a:solidFill>
              <a:srgbClr val="00C8FF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365760" y="1892808"/>
            <a:ext cx="411480" cy="411480"/>
          </a:xfrm>
          <a:prstGeom prst="ellipse">
            <a:avLst/>
          </a:prstGeom>
          <a:solidFill>
            <a:srgbClr val="00E676"/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892808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A0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14400" y="1874520"/>
            <a:ext cx="3840480" cy="457200"/>
          </a:xfrm>
          <a:prstGeom prst="rect">
            <a:avLst/>
          </a:prstGeom>
          <a:solidFill>
            <a:srgbClr val="0D1830"/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1892808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E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AddConstant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834640" y="1892808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XOR state with round constant RCᵢ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71500" y="2304288"/>
            <a:ext cx="0" cy="155448"/>
          </a:xfrm>
          <a:prstGeom prst="line">
            <a:avLst/>
          </a:prstGeom>
          <a:noFill/>
          <a:ln w="12700">
            <a:solidFill>
              <a:srgbClr val="00E676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365760" y="2551176"/>
            <a:ext cx="411480" cy="411480"/>
          </a:xfrm>
          <a:prstGeom prst="ellips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551176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A0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914400" y="2532888"/>
            <a:ext cx="3840480" cy="457200"/>
          </a:xfrm>
          <a:prstGeom prst="rect">
            <a:avLst/>
          </a:prstGeom>
          <a:solidFill>
            <a:srgbClr val="0D1830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05840" y="2551176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AddTweakey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2834640" y="2551176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XOR state with hⁱ(T) ⊕ k₁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71500" y="2962656"/>
            <a:ext cx="0" cy="155448"/>
          </a:xfrm>
          <a:prstGeom prst="line">
            <a:avLst/>
          </a:prstGeom>
          <a:noFill/>
          <a:ln w="12700">
            <a:solidFill>
              <a:srgbClr val="FFD166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365760" y="3209544"/>
            <a:ext cx="411480" cy="411480"/>
          </a:xfrm>
          <a:prstGeom prst="ellipse">
            <a:avLst/>
          </a:prstGeom>
          <a:solidFill>
            <a:srgbClr val="FF7043"/>
          </a:solidFill>
          <a:ln w="12700">
            <a:solidFill>
              <a:srgbClr val="FF704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09544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A0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914400" y="3191256"/>
            <a:ext cx="3840480" cy="457200"/>
          </a:xfrm>
          <a:prstGeom prst="rect">
            <a:avLst/>
          </a:prstGeom>
          <a:solidFill>
            <a:srgbClr val="0D1830"/>
          </a:solidFill>
          <a:ln w="12700">
            <a:solidFill>
              <a:srgbClr val="FF704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05840" y="3209544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7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PermuteCells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2834640" y="3209544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permutation P to nibble positions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71500" y="3621024"/>
            <a:ext cx="0" cy="155448"/>
          </a:xfrm>
          <a:prstGeom prst="line">
            <a:avLst/>
          </a:prstGeom>
          <a:noFill/>
          <a:ln w="12700">
            <a:solidFill>
              <a:srgbClr val="FF7043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365760" y="3867912"/>
            <a:ext cx="411480" cy="411480"/>
          </a:xfrm>
          <a:prstGeom prst="ellipse">
            <a:avLst/>
          </a:prstGeom>
          <a:solidFill>
            <a:srgbClr val="CE93D8"/>
          </a:solidFill>
          <a:ln w="12700">
            <a:solidFill>
              <a:srgbClr val="CE93D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86791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A0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914400" y="3849624"/>
            <a:ext cx="3840480" cy="457200"/>
          </a:xfrm>
          <a:prstGeom prst="rect">
            <a:avLst/>
          </a:prstGeom>
          <a:solidFill>
            <a:srgbClr val="0D1830"/>
          </a:solidFill>
          <a:ln w="12700">
            <a:solidFill>
              <a:srgbClr val="CE93D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05840" y="3867912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E9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MixColumns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2834640" y="3867912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each column by matrix M over GF(2)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937760" y="1143000"/>
            <a:ext cx="3977640" cy="3767328"/>
          </a:xfrm>
          <a:prstGeom prst="rect">
            <a:avLst/>
          </a:prstGeom>
          <a:solidFill>
            <a:srgbClr val="06101F"/>
          </a:solidFill>
          <a:ln w="12700">
            <a:solidFill>
              <a:srgbClr val="0E7FA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074920" y="1170432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Encryption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074920" y="1554480"/>
            <a:ext cx="3703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D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← m ⊕ k₀ ⊕ k₁ ⊕ T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074920" y="1801368"/>
            <a:ext cx="3703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892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(initial whitening)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074920" y="2084832"/>
            <a:ext cx="3703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Forward half Hᵣ: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074920" y="2340864"/>
            <a:ext cx="3703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0D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for i=1..r: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074920" y="2551176"/>
            <a:ext cx="3703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0D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SubCells → AddRC → AddTK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074920" y="2761488"/>
            <a:ext cx="3703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0D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→ PermCells → MixCols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5074920" y="2971800"/>
            <a:ext cx="3703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0D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SubCells(s)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074920" y="3246120"/>
            <a:ext cx="3703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Middle layer: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5074920" y="3474720"/>
            <a:ext cx="3703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0D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M(s) → SubCells(s)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5074920" y="3749040"/>
            <a:ext cx="3703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D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Backward half H⁻¹ᵣ: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074920" y="3986784"/>
            <a:ext cx="3703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0D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for i=r..1: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5074920" y="4197096"/>
            <a:ext cx="3703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0D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MixCols → P⁻¹ → AddTK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5074920" y="4407408"/>
            <a:ext cx="3703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0D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→ AddRC → SubCells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4937760" y="4718304"/>
            <a:ext cx="3977640" cy="274320"/>
          </a:xfrm>
          <a:prstGeom prst="rect">
            <a:avLst/>
          </a:prstGeom>
          <a:solidFill>
            <a:srgbClr val="0E7FA8">
              <a:alpha val="20000"/>
            </a:srgbClr>
          </a:solidFill>
          <a:ln w="12700">
            <a:solidFill>
              <a:srgbClr val="0E7FA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83480" y="4718304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D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 ← s ⊕ k′₀ ⊕ k₁ ⊕ α ⊕ T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A0E1A"/>
          </a:solidFill>
          <a:ln w="12700">
            <a:solidFill>
              <a:srgbClr val="0A0E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73152" cy="5143500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20116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0E7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CONSTANTS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502920"/>
            <a:ext cx="82296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Fixed from π  ·  RC₁ – RC₈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11480" y="1188720"/>
            <a:ext cx="4069080" cy="749808"/>
          </a:xfrm>
          <a:prstGeom prst="rect">
            <a:avLst/>
          </a:prstGeom>
          <a:solidFill>
            <a:srgbClr val="F4F7FB"/>
          </a:solidFill>
          <a:ln w="12700">
            <a:solidFill>
              <a:srgbClr val="D0D8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11480" y="1188720"/>
            <a:ext cx="502920" cy="749808"/>
          </a:xfrm>
          <a:prstGeom prst="rect">
            <a:avLst/>
          </a:prstGeom>
          <a:solidFill>
            <a:srgbClr val="0A0E1A"/>
          </a:solidFill>
          <a:ln w="12700">
            <a:solidFill>
              <a:srgbClr val="0A0E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188720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RC1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05840" y="1188720"/>
            <a:ext cx="340156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E7F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0x13198A2E03707344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709160" y="1188720"/>
            <a:ext cx="4069080" cy="749808"/>
          </a:xfrm>
          <a:prstGeom prst="rect">
            <a:avLst/>
          </a:prstGeom>
          <a:solidFill>
            <a:srgbClr val="F4F7FB"/>
          </a:solidFill>
          <a:ln w="12700">
            <a:solidFill>
              <a:srgbClr val="D0D8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09160" y="1188720"/>
            <a:ext cx="502920" cy="749808"/>
          </a:xfrm>
          <a:prstGeom prst="rect">
            <a:avLst/>
          </a:prstGeom>
          <a:solidFill>
            <a:srgbClr val="0A0E1A"/>
          </a:solidFill>
          <a:ln w="12700">
            <a:solidFill>
              <a:srgbClr val="0A0E1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9160" y="1188720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RC2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303520" y="1188720"/>
            <a:ext cx="340156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E7F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0xA4093822299F31D0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11480" y="2057400"/>
            <a:ext cx="4069080" cy="749808"/>
          </a:xfrm>
          <a:prstGeom prst="rect">
            <a:avLst/>
          </a:prstGeom>
          <a:solidFill>
            <a:srgbClr val="F4F7FB"/>
          </a:solidFill>
          <a:ln w="12700">
            <a:solidFill>
              <a:srgbClr val="D0D8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11480" y="2057400"/>
            <a:ext cx="502920" cy="749808"/>
          </a:xfrm>
          <a:prstGeom prst="rect">
            <a:avLst/>
          </a:prstGeom>
          <a:solidFill>
            <a:srgbClr val="0A0E1A"/>
          </a:solidFill>
          <a:ln w="12700">
            <a:solidFill>
              <a:srgbClr val="0A0E1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1480" y="2057400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RC3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005840" y="2057400"/>
            <a:ext cx="340156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E7F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0x082EFA98EC4E6C89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709160" y="2057400"/>
            <a:ext cx="4069080" cy="749808"/>
          </a:xfrm>
          <a:prstGeom prst="rect">
            <a:avLst/>
          </a:prstGeom>
          <a:solidFill>
            <a:srgbClr val="F4F7FB"/>
          </a:solidFill>
          <a:ln w="12700">
            <a:solidFill>
              <a:srgbClr val="D0D8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09160" y="2057400"/>
            <a:ext cx="502920" cy="749808"/>
          </a:xfrm>
          <a:prstGeom prst="rect">
            <a:avLst/>
          </a:prstGeom>
          <a:solidFill>
            <a:srgbClr val="0A0E1A"/>
          </a:solidFill>
          <a:ln w="12700">
            <a:solidFill>
              <a:srgbClr val="0A0E1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09160" y="2057400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RC4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303520" y="2057400"/>
            <a:ext cx="340156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E7F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0x452821E638D01377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11480" y="2926080"/>
            <a:ext cx="4069080" cy="749808"/>
          </a:xfrm>
          <a:prstGeom prst="rect">
            <a:avLst/>
          </a:prstGeom>
          <a:solidFill>
            <a:srgbClr val="F4F7FB"/>
          </a:solidFill>
          <a:ln w="12700">
            <a:solidFill>
              <a:srgbClr val="D0D8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11480" y="2926080"/>
            <a:ext cx="502920" cy="749808"/>
          </a:xfrm>
          <a:prstGeom prst="rect">
            <a:avLst/>
          </a:prstGeom>
          <a:solidFill>
            <a:srgbClr val="0A0E1A"/>
          </a:solidFill>
          <a:ln w="12700">
            <a:solidFill>
              <a:srgbClr val="0A0E1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11480" y="2926080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RC5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005840" y="2926080"/>
            <a:ext cx="340156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E7F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0xBE5466CF34E90C6C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709160" y="2926080"/>
            <a:ext cx="4069080" cy="749808"/>
          </a:xfrm>
          <a:prstGeom prst="rect">
            <a:avLst/>
          </a:prstGeom>
          <a:solidFill>
            <a:srgbClr val="F4F7FB"/>
          </a:solidFill>
          <a:ln w="12700">
            <a:solidFill>
              <a:srgbClr val="D0D8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709160" y="2926080"/>
            <a:ext cx="502920" cy="749808"/>
          </a:xfrm>
          <a:prstGeom prst="rect">
            <a:avLst/>
          </a:prstGeom>
          <a:solidFill>
            <a:srgbClr val="0A0E1A"/>
          </a:solidFill>
          <a:ln w="12700">
            <a:solidFill>
              <a:srgbClr val="0A0E1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09160" y="2926080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RC6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303520" y="2926080"/>
            <a:ext cx="340156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E7F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0xC0AC29B7C97C50DD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11480" y="3794760"/>
            <a:ext cx="4069080" cy="749808"/>
          </a:xfrm>
          <a:prstGeom prst="rect">
            <a:avLst/>
          </a:prstGeom>
          <a:solidFill>
            <a:srgbClr val="F4F7FB"/>
          </a:solidFill>
          <a:ln w="12700">
            <a:solidFill>
              <a:srgbClr val="D0D8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11480" y="3794760"/>
            <a:ext cx="502920" cy="749808"/>
          </a:xfrm>
          <a:prstGeom prst="rect">
            <a:avLst/>
          </a:prstGeom>
          <a:solidFill>
            <a:srgbClr val="0A0E1A"/>
          </a:solidFill>
          <a:ln w="12700">
            <a:solidFill>
              <a:srgbClr val="0A0E1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11480" y="3794760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RC7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005840" y="3794760"/>
            <a:ext cx="340156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E7F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0x3F84D5B5B5470917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4709160" y="3794760"/>
            <a:ext cx="4069080" cy="749808"/>
          </a:xfrm>
          <a:prstGeom prst="rect">
            <a:avLst/>
          </a:prstGeom>
          <a:solidFill>
            <a:srgbClr val="F4F7FB"/>
          </a:solidFill>
          <a:ln w="12700">
            <a:solidFill>
              <a:srgbClr val="D0D8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4709160" y="3794760"/>
            <a:ext cx="502920" cy="749808"/>
          </a:xfrm>
          <a:prstGeom prst="rect">
            <a:avLst/>
          </a:prstGeom>
          <a:solidFill>
            <a:srgbClr val="0A0E1A"/>
          </a:solidFill>
          <a:ln w="12700">
            <a:solidFill>
              <a:srgbClr val="0A0E1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709160" y="3794760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RC8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303520" y="3794760"/>
            <a:ext cx="340156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E7F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0x9216D5D98979FB1B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411480" y="4645152"/>
            <a:ext cx="8503920" cy="347472"/>
          </a:xfrm>
          <a:prstGeom prst="rect">
            <a:avLst/>
          </a:prstGeom>
          <a:solidFill>
            <a:srgbClr val="0A0E1A"/>
          </a:solidFill>
          <a:ln w="12700">
            <a:solidFill>
              <a:srgbClr val="0A0E1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11480" y="4645152"/>
            <a:ext cx="8503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α  =  0x243F6A8885A308D3   (used to form  k̄₁ = k₁ ⊕ α,  also derived from π)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11480" y="4572000"/>
            <a:ext cx="8503920" cy="54864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E676"/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00E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TWEAK SCHEDULE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64-bit Tweak Permutation h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11556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FD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 = [6, 5, 14, 15, 0, 1, 2, 3, 7, 12, 13, 4, 8, 9, 10, 11]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53619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Action: h(T)[i] = T[h[i]]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011680"/>
            <a:ext cx="2697480" cy="1920240"/>
          </a:xfrm>
          <a:prstGeom prst="rect">
            <a:avLst/>
          </a:prstGeom>
          <a:solidFill>
            <a:srgbClr val="0D1830"/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2011680"/>
            <a:ext cx="2697480" cy="54864"/>
          </a:xfrm>
          <a:prstGeom prst="rect">
            <a:avLst/>
          </a:prstGeom>
          <a:solidFill>
            <a:srgbClr val="00E676"/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121408"/>
            <a:ext cx="2514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E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Usage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2514600"/>
            <a:ext cx="25146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0C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Precomputed sequence h¹(T), h²(T), …, hʳ(T)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0C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in rounds 1, 2, …, r respectively.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37560" y="2011680"/>
            <a:ext cx="2697480" cy="1920240"/>
          </a:xfrm>
          <a:prstGeom prst="rect">
            <a:avLst/>
          </a:prstGeom>
          <a:solidFill>
            <a:srgbClr val="0D1830"/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37560" y="2011680"/>
            <a:ext cx="2697480" cy="54864"/>
          </a:xfrm>
          <a:prstGeom prst="rect">
            <a:avLst/>
          </a:prstGeom>
          <a:solidFill>
            <a:srgbClr val="00E676"/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2121408"/>
            <a:ext cx="2514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E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GF Multiplications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429000" y="2514600"/>
            <a:ext cx="25146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0C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nibble permutation — no Galois-field arithmetic required, keeping the tweak schedule lightweight.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011680"/>
            <a:ext cx="2697480" cy="1920240"/>
          </a:xfrm>
          <a:prstGeom prst="rect">
            <a:avLst/>
          </a:prstGeom>
          <a:solidFill>
            <a:srgbClr val="0D1830"/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0" y="2011680"/>
            <a:ext cx="2697480" cy="54864"/>
          </a:xfrm>
          <a:prstGeom prst="rect">
            <a:avLst/>
          </a:prstGeom>
          <a:solidFill>
            <a:srgbClr val="00E676"/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09360" y="2121408"/>
            <a:ext cx="2514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E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Chosen by MILP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309360" y="2514600"/>
            <a:ext cx="25146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0C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Permutation h was selected by exhaustive MILP search over 8! candidates to maximise security.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4114800"/>
            <a:ext cx="8229600" cy="777240"/>
          </a:xfrm>
          <a:prstGeom prst="rect">
            <a:avLst/>
          </a:prstGeom>
          <a:solidFill>
            <a:srgbClr val="06101F"/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" y="4169664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E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Tweak Security Property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94360" y="4480560"/>
            <a:ext cx="7955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Related-tweak attacks are the primary threat. MILP verified that MANTIS5 admits no related-tweak slide attack with fewer than 2³⁰ chosen plaintext–ciphertext pairs.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A0E1A"/>
          </a:solidFill>
          <a:ln w="12700">
            <a:solidFill>
              <a:srgbClr val="0A0E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73152" cy="5143500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8288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0E7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TEST VECTORS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475488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Verified against Appendix B.2 of [BJK+16]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11480" y="1005840"/>
            <a:ext cx="8503920" cy="640080"/>
          </a:xfrm>
          <a:prstGeom prst="rect">
            <a:avLst/>
          </a:prstGeom>
          <a:solidFill>
            <a:srgbClr val="0A0E1A"/>
          </a:solidFill>
          <a:ln w="12700">
            <a:solidFill>
              <a:srgbClr val="0A0E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005840"/>
            <a:ext cx="8321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D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 (k₀∥k₁): </a:t>
            </a:r>
            <a:r>
              <a:rPr lang="en-US" sz="1200" dirty="0">
                <a:solidFill>
                  <a:srgbClr val="00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92F09952C625E3E9 D7A060F714C0292B</a:t>
            </a:r>
            <a:r>
              <a:rPr lang="en-US" sz="1200" b="1" dirty="0">
                <a:solidFill>
                  <a:srgbClr val="FFD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Tweak: </a:t>
            </a:r>
            <a:r>
              <a:rPr lang="en-US" sz="1200" dirty="0">
                <a:solidFill>
                  <a:srgbClr val="00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BA912E6F1055FED2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11480" y="1755648"/>
            <a:ext cx="8503920" cy="685800"/>
          </a:xfrm>
          <a:prstGeom prst="rect">
            <a:avLst/>
          </a:prstGeom>
          <a:solidFill>
            <a:srgbClr val="F4F7FB"/>
          </a:solidFill>
          <a:ln w="12700">
            <a:solidFill>
              <a:srgbClr val="D0D8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11480" y="1755648"/>
            <a:ext cx="1005840" cy="685800"/>
          </a:xfrm>
          <a:prstGeom prst="rect">
            <a:avLst/>
          </a:prstGeom>
          <a:solidFill>
            <a:srgbClr val="0A0E1A"/>
          </a:solidFill>
          <a:ln w="12700">
            <a:solidFill>
              <a:srgbClr val="0A0E1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" y="1755648"/>
            <a:ext cx="1005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MANTIS5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554480" y="1810512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666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PT: </a:t>
            </a:r>
            <a:r>
              <a:rPr lang="en-US" sz="1200" dirty="0">
                <a:solidFill>
                  <a:srgbClr val="0E7F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3B5C77A4921F9718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554480" y="2103120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666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CT: </a:t>
            </a:r>
            <a:r>
              <a:rPr lang="en-US" sz="1200" dirty="0">
                <a:solidFill>
                  <a:srgbClr val="C03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D6522035C1C0C6C1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11480" y="2523744"/>
            <a:ext cx="8503920" cy="685800"/>
          </a:xfrm>
          <a:prstGeom prst="rect">
            <a:avLst/>
          </a:prstGeom>
          <a:solidFill>
            <a:srgbClr val="F4F7FB"/>
          </a:solidFill>
          <a:ln w="12700">
            <a:solidFill>
              <a:srgbClr val="D0D8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11480" y="2523744"/>
            <a:ext cx="1005840" cy="685800"/>
          </a:xfrm>
          <a:prstGeom prst="rect">
            <a:avLst/>
          </a:prstGeom>
          <a:solidFill>
            <a:srgbClr val="0A0E1A"/>
          </a:solidFill>
          <a:ln w="12700">
            <a:solidFill>
              <a:srgbClr val="0A0E1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2523744"/>
            <a:ext cx="1005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E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MANTIS6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554480" y="2578608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666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PT: </a:t>
            </a:r>
            <a:r>
              <a:rPr lang="en-US" sz="1200" dirty="0">
                <a:solidFill>
                  <a:srgbClr val="0E7F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D6522035C1C0C6C1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554480" y="2871216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666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CT: </a:t>
            </a:r>
            <a:r>
              <a:rPr lang="en-US" sz="1200" dirty="0">
                <a:solidFill>
                  <a:srgbClr val="C03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60E43457311936FD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3291840"/>
            <a:ext cx="8503920" cy="685800"/>
          </a:xfrm>
          <a:prstGeom prst="rect">
            <a:avLst/>
          </a:prstGeom>
          <a:solidFill>
            <a:srgbClr val="F4F7FB"/>
          </a:solidFill>
          <a:ln w="12700">
            <a:solidFill>
              <a:srgbClr val="D0D8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11480" y="3291840"/>
            <a:ext cx="1005840" cy="685800"/>
          </a:xfrm>
          <a:prstGeom prst="rect">
            <a:avLst/>
          </a:prstGeom>
          <a:solidFill>
            <a:srgbClr val="0A0E1A"/>
          </a:solidFill>
          <a:ln w="12700">
            <a:solidFill>
              <a:srgbClr val="0A0E1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11480" y="3291840"/>
            <a:ext cx="1005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MANTIS7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554480" y="334670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666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PT: </a:t>
            </a:r>
            <a:r>
              <a:rPr lang="en-US" sz="1200" dirty="0">
                <a:solidFill>
                  <a:srgbClr val="0E7F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60E43457311936FD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554480" y="3639312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666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CT: </a:t>
            </a:r>
            <a:r>
              <a:rPr lang="en-US" sz="1200" dirty="0">
                <a:solidFill>
                  <a:srgbClr val="C03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308E8A07F168F517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11480" y="4059936"/>
            <a:ext cx="8503920" cy="685800"/>
          </a:xfrm>
          <a:prstGeom prst="rect">
            <a:avLst/>
          </a:prstGeom>
          <a:solidFill>
            <a:srgbClr val="F4F7FB"/>
          </a:solidFill>
          <a:ln w="12700">
            <a:solidFill>
              <a:srgbClr val="D0D8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11480" y="4059936"/>
            <a:ext cx="1005840" cy="685800"/>
          </a:xfrm>
          <a:prstGeom prst="rect">
            <a:avLst/>
          </a:prstGeom>
          <a:solidFill>
            <a:srgbClr val="0A0E1A"/>
          </a:solidFill>
          <a:ln w="12700">
            <a:solidFill>
              <a:srgbClr val="0A0E1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11480" y="4059936"/>
            <a:ext cx="1005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7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MANTIS8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554480" y="4114800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666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PT: </a:t>
            </a:r>
            <a:r>
              <a:rPr lang="en-US" sz="1200" dirty="0">
                <a:solidFill>
                  <a:srgbClr val="0E7F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308E8A07F168F517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554480" y="4407408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666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CT: </a:t>
            </a:r>
            <a:r>
              <a:rPr lang="en-US" sz="1200" dirty="0">
                <a:solidFill>
                  <a:srgbClr val="C03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971EA01A86B410BB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11480" y="4809744"/>
            <a:ext cx="8503920" cy="256032"/>
          </a:xfrm>
          <a:prstGeom prst="rect">
            <a:avLst/>
          </a:prstGeom>
          <a:solidFill>
            <a:srgbClr val="0E7FA8">
              <a:alpha val="20000"/>
            </a:srgbClr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11480" y="4809744"/>
            <a:ext cx="8503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0E7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variant's ciphertext is the next variant's plaintext — a chain of cascading test vectors!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NOVEL CIPHER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Key Modifications to MANTIS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51560"/>
            <a:ext cx="8412480" cy="475488"/>
          </a:xfrm>
          <a:prstGeom prst="rect">
            <a:avLst/>
          </a:prstGeom>
          <a:solidFill>
            <a:srgbClr val="0A1525"/>
          </a:solidFill>
          <a:ln w="12700">
            <a:solidFill>
              <a:srgbClr val="0E7F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05156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A0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round constants and static round-key reuse → predictable differential propagation. Two targeted modifications fix this while preserving MANTIS's lightweight SPN &amp; α-reflection architecture.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664208"/>
            <a:ext cx="4160520" cy="3273552"/>
          </a:xfrm>
          <a:prstGeom prst="rect">
            <a:avLst/>
          </a:prstGeom>
          <a:solidFill>
            <a:srgbClr val="0D1830"/>
          </a:solidFill>
          <a:ln w="19050">
            <a:solidFill>
              <a:srgbClr val="00C8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664208"/>
            <a:ext cx="4160520" cy="45720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737360"/>
            <a:ext cx="3886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Dynamic Round Constants via LFSR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02920" y="2176272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polynomial: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2414016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D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p(x) = x⁶⁴ + x⁴ + x³ + x + 1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02920" y="2706624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2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Primitive over GF(2)  →  period = 2⁶⁴ − 1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3017520"/>
            <a:ext cx="3474720" cy="0"/>
          </a:xfrm>
          <a:prstGeom prst="line">
            <a:avLst/>
          </a:prstGeom>
          <a:noFill/>
          <a:ln w="12700">
            <a:solidFill>
              <a:srgbClr val="0E7FA8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502920" y="3090672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derivation: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" y="3328416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D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RC₀ = K₀ ⊕ T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02920" y="3621024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RCᵢ₊₁ = LFSR(RCᵢ)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3968496"/>
            <a:ext cx="3474720" cy="384048"/>
          </a:xfrm>
          <a:prstGeom prst="rect">
            <a:avLst/>
          </a:prstGeom>
          <a:solidFill>
            <a:srgbClr val="060E1C"/>
          </a:solidFill>
          <a:ln w="12700">
            <a:solidFill>
              <a:srgbClr val="0E7FA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3968496"/>
            <a:ext cx="3383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E7F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R₆₃ · · · R₄  R₃  R₂  R₁  R₀  →  ⊕  → feedback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02920" y="4407408"/>
            <a:ext cx="3749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Bits 63, 3, 2, 0 XORed for feedback tap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709160" y="1664208"/>
            <a:ext cx="4160520" cy="3273552"/>
          </a:xfrm>
          <a:prstGeom prst="rect">
            <a:avLst/>
          </a:prstGeom>
          <a:solidFill>
            <a:srgbClr val="0D1830"/>
          </a:solidFill>
          <a:ln w="19050">
            <a:solidFill>
              <a:srgbClr val="FFD1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09160" y="1664208"/>
            <a:ext cx="4160520" cy="45720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46320" y="1737360"/>
            <a:ext cx="3886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Rotating Round-Key Schedule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846320" y="2176272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sub-key generation: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846320" y="2414016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D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RKᵢ = ROR64(K₁, 4i) ⊕ RCᵢ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46320" y="2761488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tweakey: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846320" y="2999232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TKᵢ = hⁱ(T) ⊕ RKᵢ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846320" y="3346704"/>
            <a:ext cx="3474720" cy="0"/>
          </a:xfrm>
          <a:prstGeom prst="line">
            <a:avLst/>
          </a:prstGeom>
          <a:noFill/>
          <a:ln w="12700">
            <a:solidFill>
              <a:srgbClr val="0E7FA8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4846320" y="3419856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Backward half (α-reflection preserved):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846320" y="3657600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E93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Tweakey = hⁱ(T) ⊕ (RKᵢ ⊕ α)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846320" y="4005072"/>
            <a:ext cx="3474720" cy="0"/>
          </a:xfrm>
          <a:prstGeom prst="line">
            <a:avLst/>
          </a:prstGeom>
          <a:noFill/>
          <a:ln w="12700">
            <a:solidFill>
              <a:srgbClr val="0E7FA8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4846320" y="4078224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Preserved properties: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846320" y="4334256"/>
            <a:ext cx="3840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E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SPN structure unchanged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846320" y="4535424"/>
            <a:ext cx="3840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E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Tweak permutation unchanged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846320" y="4736592"/>
            <a:ext cx="3840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E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α-reflection decryption intact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A0E1A"/>
          </a:solidFill>
          <a:ln w="12700">
            <a:solidFill>
              <a:srgbClr val="0A0E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73152" cy="5143500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82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0E7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NOVEL CIPHER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475488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Generated Round Keys &amp; Performance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11480" y="1024128"/>
            <a:ext cx="4160520" cy="3493008"/>
          </a:xfrm>
          <a:prstGeom prst="rect">
            <a:avLst/>
          </a:prstGeom>
          <a:solidFill>
            <a:srgbClr val="F4F7FB"/>
          </a:solidFill>
          <a:ln w="12700">
            <a:solidFill>
              <a:srgbClr val="D0D8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11480" y="1024128"/>
            <a:ext cx="54864" cy="3493008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078992"/>
            <a:ext cx="3794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64-bit Round Keys (8 Forward Rounds)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417320"/>
            <a:ext cx="3794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2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 = 92F09952C625E3E9 D7A060F714C0292B  ·  T = BA912E6F1055FED2</a:t>
            </a:r>
            <a:endParaRPr lang="en-US" sz="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700784"/>
          <a:ext cx="3931920" cy="2895600"/>
        </p:xfrm>
        <a:graphic>
          <a:graphicData uri="http://schemas.openxmlformats.org/drawingml/2006/table">
            <a:tbl>
              <a:tblPr/>
              <a:tblGrid>
                <a:gridCol w="59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37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Round</a:t>
                      </a:r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6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Round Key (hex)</a:t>
                      </a:r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6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668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668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951BB132A73C1FA9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E7FA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E7FA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7B14CE1B5BF4FA5F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668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668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333BA6F156B138EF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E7FA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E7FA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6A266E4ED377FD1A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668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668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8489CEA7610EA2F9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E7FA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E7FA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CC1FCC6D6E63507F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668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668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546F5DC8E60141A7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E7FA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E7FA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241BB7C0EFAEFD5A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0" name="Shape 8"/>
          <p:cNvSpPr/>
          <p:nvPr/>
        </p:nvSpPr>
        <p:spPr>
          <a:xfrm>
            <a:off x="4754880" y="1024128"/>
            <a:ext cx="4160520" cy="1828800"/>
          </a:xfrm>
          <a:prstGeom prst="rect">
            <a:avLst/>
          </a:prstGeom>
          <a:solidFill>
            <a:srgbClr val="F4F7FB"/>
          </a:solidFill>
          <a:ln w="12700">
            <a:solidFill>
              <a:srgbClr val="D0D8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754880" y="1024128"/>
            <a:ext cx="54864" cy="1828800"/>
          </a:xfrm>
          <a:prstGeom prst="rect">
            <a:avLst/>
          </a:prstGeom>
          <a:solidFill>
            <a:srgbClr val="0E7FA8"/>
          </a:solidFill>
          <a:ln w="12700">
            <a:solidFill>
              <a:srgbClr val="0E7FA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937760" y="1078992"/>
            <a:ext cx="3794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Benchmark (Python)</a:t>
            </a:r>
            <a:endParaRPr lang="en-US" sz="12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46320" y="1435608"/>
          <a:ext cx="3931920" cy="1356968"/>
        </p:xfrm>
        <a:graphic>
          <a:graphicData uri="http://schemas.openxmlformats.org/drawingml/2006/table">
            <a:tbl>
              <a:tblPr/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066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6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Original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6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6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066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44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time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44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9.165 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44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11.126 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066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 enc.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91.65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111.26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066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44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Throughput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44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10,910/s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44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8,988/s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066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Overhead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21.39%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5" name="Shape 11"/>
          <p:cNvSpPr/>
          <p:nvPr/>
        </p:nvSpPr>
        <p:spPr>
          <a:xfrm>
            <a:off x="4754880" y="2962656"/>
            <a:ext cx="4160520" cy="2029968"/>
          </a:xfrm>
          <a:prstGeom prst="rect">
            <a:avLst/>
          </a:prstGeom>
          <a:solidFill>
            <a:srgbClr val="F4F7FB"/>
          </a:solidFill>
          <a:ln w="12700">
            <a:solidFill>
              <a:srgbClr val="D0D8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4754880" y="2962656"/>
            <a:ext cx="54864" cy="2029968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4937760" y="3017520"/>
            <a:ext cx="3794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Round-Key Generation Flow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4892040" y="3493008"/>
            <a:ext cx="640080" cy="402336"/>
          </a:xfrm>
          <a:prstGeom prst="rect">
            <a:avLst/>
          </a:prstGeom>
          <a:solidFill>
            <a:srgbClr val="0A0E1A"/>
          </a:solidFill>
          <a:ln w="19050">
            <a:solidFill>
              <a:srgbClr val="FFD16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4892040" y="3493008"/>
            <a:ext cx="640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D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K₁</a:t>
            </a:r>
            <a:endParaRPr lang="en-US" sz="1050" dirty="0"/>
          </a:p>
        </p:txBody>
      </p:sp>
      <p:sp>
        <p:nvSpPr>
          <p:cNvPr id="20" name="Shape 16"/>
          <p:cNvSpPr/>
          <p:nvPr/>
        </p:nvSpPr>
        <p:spPr>
          <a:xfrm>
            <a:off x="5532120" y="3694176"/>
            <a:ext cx="164592" cy="0"/>
          </a:xfrm>
          <a:prstGeom prst="line">
            <a:avLst/>
          </a:prstGeom>
          <a:noFill/>
          <a:ln w="12700">
            <a:solidFill>
              <a:srgbClr val="8892A4"/>
            </a:solidFill>
            <a:prstDash val="solid"/>
          </a:ln>
        </p:spPr>
      </p:sp>
      <p:sp>
        <p:nvSpPr>
          <p:cNvPr id="14" name="Shape 17"/>
          <p:cNvSpPr/>
          <p:nvPr/>
        </p:nvSpPr>
        <p:spPr>
          <a:xfrm>
            <a:off x="5696712" y="3493008"/>
            <a:ext cx="1463040" cy="402336"/>
          </a:xfrm>
          <a:prstGeom prst="rect">
            <a:avLst/>
          </a:prstGeom>
          <a:solidFill>
            <a:srgbClr val="0A0E1A"/>
          </a:solidFill>
          <a:ln w="19050">
            <a:solidFill>
              <a:srgbClr val="00C8F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5696712" y="3493008"/>
            <a:ext cx="14630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0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ROR64(K₁, 4i)</a:t>
            </a:r>
            <a:endParaRPr lang="en-US" sz="1050" dirty="0"/>
          </a:p>
        </p:txBody>
      </p:sp>
      <p:sp>
        <p:nvSpPr>
          <p:cNvPr id="23" name="Shape 19"/>
          <p:cNvSpPr/>
          <p:nvPr/>
        </p:nvSpPr>
        <p:spPr>
          <a:xfrm>
            <a:off x="7159752" y="3694176"/>
            <a:ext cx="164592" cy="0"/>
          </a:xfrm>
          <a:prstGeom prst="line">
            <a:avLst/>
          </a:prstGeom>
          <a:noFill/>
          <a:ln w="12700">
            <a:solidFill>
              <a:srgbClr val="8892A4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7324344" y="3493008"/>
            <a:ext cx="822960" cy="402336"/>
          </a:xfrm>
          <a:prstGeom prst="rect">
            <a:avLst/>
          </a:prstGeom>
          <a:solidFill>
            <a:srgbClr val="0A0E1A"/>
          </a:solidFill>
          <a:ln w="19050">
            <a:solidFill>
              <a:srgbClr val="CE93D8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7324344" y="3493008"/>
            <a:ext cx="8229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CE93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⊕  RCᵢ</a:t>
            </a:r>
            <a:endParaRPr lang="en-US" sz="1050" dirty="0"/>
          </a:p>
        </p:txBody>
      </p:sp>
      <p:sp>
        <p:nvSpPr>
          <p:cNvPr id="26" name="Shape 22"/>
          <p:cNvSpPr/>
          <p:nvPr/>
        </p:nvSpPr>
        <p:spPr>
          <a:xfrm>
            <a:off x="8147304" y="3694176"/>
            <a:ext cx="164592" cy="0"/>
          </a:xfrm>
          <a:prstGeom prst="line">
            <a:avLst/>
          </a:prstGeom>
          <a:noFill/>
          <a:ln w="12700">
            <a:solidFill>
              <a:srgbClr val="8892A4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8311896" y="3493008"/>
            <a:ext cx="731520" cy="402336"/>
          </a:xfrm>
          <a:prstGeom prst="rect">
            <a:avLst/>
          </a:prstGeom>
          <a:solidFill>
            <a:srgbClr val="0A0E1A"/>
          </a:solidFill>
          <a:ln w="19050">
            <a:solidFill>
              <a:srgbClr val="00E676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8311896" y="3493008"/>
            <a:ext cx="7315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0E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RKᵢ</a:t>
            </a:r>
            <a:endParaRPr lang="en-US" sz="1050" dirty="0"/>
          </a:p>
        </p:txBody>
      </p:sp>
      <p:sp>
        <p:nvSpPr>
          <p:cNvPr id="29" name="Shape 25"/>
          <p:cNvSpPr/>
          <p:nvPr/>
        </p:nvSpPr>
        <p:spPr>
          <a:xfrm>
            <a:off x="4892040" y="4059936"/>
            <a:ext cx="640080" cy="402336"/>
          </a:xfrm>
          <a:prstGeom prst="rect">
            <a:avLst/>
          </a:prstGeom>
          <a:solidFill>
            <a:srgbClr val="0A0E1A"/>
          </a:solidFill>
          <a:ln w="19050">
            <a:solidFill>
              <a:srgbClr val="0E7FA8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4892040" y="4059936"/>
            <a:ext cx="640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E7F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hⁱ(T)</a:t>
            </a:r>
            <a:endParaRPr lang="en-US" sz="1050" dirty="0"/>
          </a:p>
        </p:txBody>
      </p:sp>
      <p:sp>
        <p:nvSpPr>
          <p:cNvPr id="31" name="Shape 27"/>
          <p:cNvSpPr/>
          <p:nvPr/>
        </p:nvSpPr>
        <p:spPr>
          <a:xfrm>
            <a:off x="5532120" y="4261104"/>
            <a:ext cx="182880" cy="0"/>
          </a:xfrm>
          <a:prstGeom prst="line">
            <a:avLst/>
          </a:prstGeom>
          <a:noFill/>
          <a:ln w="12700">
            <a:solidFill>
              <a:srgbClr val="8892A4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715000" y="4059936"/>
            <a:ext cx="822960" cy="402336"/>
          </a:xfrm>
          <a:prstGeom prst="rect">
            <a:avLst/>
          </a:prstGeom>
          <a:solidFill>
            <a:srgbClr val="0A0E1A"/>
          </a:solidFill>
          <a:ln w="19050">
            <a:solidFill>
              <a:srgbClr val="CE93D8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5715000" y="4059936"/>
            <a:ext cx="8229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CE93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⊕  RKᵢ</a:t>
            </a:r>
            <a:endParaRPr lang="en-US" sz="1050" dirty="0"/>
          </a:p>
        </p:txBody>
      </p:sp>
      <p:sp>
        <p:nvSpPr>
          <p:cNvPr id="34" name="Shape 30"/>
          <p:cNvSpPr/>
          <p:nvPr/>
        </p:nvSpPr>
        <p:spPr>
          <a:xfrm>
            <a:off x="6537960" y="4261104"/>
            <a:ext cx="182880" cy="0"/>
          </a:xfrm>
          <a:prstGeom prst="line">
            <a:avLst/>
          </a:prstGeom>
          <a:noFill/>
          <a:ln w="12700">
            <a:solidFill>
              <a:srgbClr val="8892A4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6720840" y="4059936"/>
            <a:ext cx="731520" cy="402336"/>
          </a:xfrm>
          <a:prstGeom prst="rect">
            <a:avLst/>
          </a:prstGeom>
          <a:solidFill>
            <a:srgbClr val="0A0E1A"/>
          </a:solidFill>
          <a:ln w="19050">
            <a:solidFill>
              <a:srgbClr val="00E676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6720840" y="4059936"/>
            <a:ext cx="7315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0E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TKᵢ</a:t>
            </a:r>
            <a:endParaRPr lang="en-US" sz="1050" dirty="0"/>
          </a:p>
        </p:txBody>
      </p:sp>
      <p:sp>
        <p:nvSpPr>
          <p:cNvPr id="37" name="Text 33"/>
          <p:cNvSpPr/>
          <p:nvPr/>
        </p:nvSpPr>
        <p:spPr>
          <a:xfrm>
            <a:off x="4846320" y="4572000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Python benchmark — actual C/FPGA/ASIC performance would be significantly higher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F7043"/>
          </a:solidFill>
          <a:ln w="12700">
            <a:solidFill>
              <a:srgbClr val="FF70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FF7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ANALYSIS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Differential Cryptanalysis — DDT &amp; Active S-Boxes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2011680"/>
          </a:xfrm>
          <a:prstGeom prst="rect">
            <a:avLst/>
          </a:prstGeom>
          <a:solidFill>
            <a:srgbClr val="0D1830"/>
          </a:solidFill>
          <a:ln w="12700">
            <a:solidFill>
              <a:srgbClr val="FF704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078992"/>
            <a:ext cx="4114800" cy="45720"/>
          </a:xfrm>
          <a:prstGeom prst="rect">
            <a:avLst/>
          </a:prstGeom>
          <a:solidFill>
            <a:srgbClr val="FF7043"/>
          </a:solidFill>
          <a:ln w="12700">
            <a:solidFill>
              <a:srgbClr val="FF70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152144"/>
            <a:ext cx="3840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7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S-Box DDT &amp; Differential Properties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536192"/>
            <a:ext cx="3840480" cy="329184"/>
          </a:xfrm>
          <a:prstGeom prst="rect">
            <a:avLst/>
          </a:prstGeom>
          <a:solidFill>
            <a:srgbClr val="0A1525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536192"/>
            <a:ext cx="2560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0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DDT max nontrivial entry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108960" y="1536192"/>
            <a:ext cx="10972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FFD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901952"/>
            <a:ext cx="3840480" cy="329184"/>
          </a:xfrm>
          <a:prstGeom prst="rect">
            <a:avLst/>
          </a:prstGeom>
          <a:solidFill>
            <a:srgbClr val="0D1830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1901952"/>
            <a:ext cx="2560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0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 uniformity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108960" y="1901952"/>
            <a:ext cx="10972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FFD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2267712"/>
            <a:ext cx="3840480" cy="329184"/>
          </a:xfrm>
          <a:prstGeom prst="rect">
            <a:avLst/>
          </a:prstGeom>
          <a:solidFill>
            <a:srgbClr val="0A1525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2267712"/>
            <a:ext cx="2560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0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DPmax(Sb₀) = 4 / 2⁴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108960" y="2267712"/>
            <a:ext cx="10972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FFD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2⁻²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2633472"/>
            <a:ext cx="3840480" cy="329184"/>
          </a:xfrm>
          <a:prstGeom prst="rect">
            <a:avLst/>
          </a:prstGeom>
          <a:solidFill>
            <a:srgbClr val="0D1830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2633472"/>
            <a:ext cx="2560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0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as original MANTIS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108960" y="2633472"/>
            <a:ext cx="10972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FFD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✓ unchanged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65760" y="3200400"/>
            <a:ext cx="4114800" cy="1737360"/>
          </a:xfrm>
          <a:prstGeom prst="rect">
            <a:avLst/>
          </a:prstGeom>
          <a:solidFill>
            <a:srgbClr val="0D1830"/>
          </a:solidFill>
          <a:ln w="12700">
            <a:solidFill>
              <a:srgbClr val="0E7FA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5760" y="3200400"/>
            <a:ext cx="4114800" cy="45720"/>
          </a:xfrm>
          <a:prstGeom prst="rect">
            <a:avLst/>
          </a:prstGeom>
          <a:solidFill>
            <a:srgbClr val="0E7FA8"/>
          </a:solidFill>
          <a:ln w="12700">
            <a:solidFill>
              <a:srgbClr val="0E7FA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273552"/>
            <a:ext cx="3840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Active S-Boxes (7-round MANTIS)</a:t>
            </a:r>
            <a:endParaRPr lang="en-US" sz="12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639312"/>
          <a:ext cx="3931920" cy="1261872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Cipher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FA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Active S-Boxes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FA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Trail Bound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F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A0B4C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Original MANTIS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5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A0B4C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204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5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A0B4C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≤ 2⁻⁴⁰⁸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5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C8D8F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Novel MANTIS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C8D8F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213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C8D8F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≤ 2⁻⁴²⁶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8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6" name="Text 23"/>
          <p:cNvSpPr/>
          <p:nvPr/>
        </p:nvSpPr>
        <p:spPr>
          <a:xfrm>
            <a:off x="4800602" y="643472"/>
            <a:ext cx="3977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Round-wise Active S-Box Counts (Table 9)</a:t>
            </a:r>
            <a:endParaRPr lang="en-US" sz="1200" dirty="0"/>
          </a:p>
        </p:txBody>
      </p:sp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8625382"/>
              </p:ext>
            </p:extLst>
          </p:nvPr>
        </p:nvGraphicFramePr>
        <p:xfrm>
          <a:off x="4754882" y="1000088"/>
          <a:ext cx="4114800" cy="4160520"/>
        </p:xfrm>
        <a:graphic>
          <a:graphicData uri="http://schemas.openxmlformats.org/drawingml/2006/table">
            <a:tbl>
              <a:tblPr/>
              <a:tblGrid>
                <a:gridCol w="20342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714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3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633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Layer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6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Original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6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Novel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6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302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A0B8D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FWD_SBOX_1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5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C8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5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FD16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5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302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A0B8D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FWD_SBOX_2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C8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FD16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8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302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A0B8D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FWD_SBOX_3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5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C8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9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5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FD16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9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5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302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A0B8D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FWD_SBOX_4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C8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16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FD16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16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8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302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A0B8D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FWD_SBOX_5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5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C8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13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5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FD16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16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5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302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A0B8D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FWD_SBOX_6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C8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15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FD16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14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8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302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A0B8D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FWD_SBOX_7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5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C8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15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5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FD16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16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5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302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A0B8D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MID_SBOX_1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C8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14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FD16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16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8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302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A0B8D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MID_SBOX_2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5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C8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15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5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FD16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16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5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302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A0B8D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BWD_SBOX_7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C8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14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FD16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15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8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302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A0B8D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BWD_SBOX_6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5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C8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13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5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FD16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15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5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302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A0B8D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BWD_SBOX_5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C8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16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FD16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16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8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302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A0B8D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BWD_SBOX_4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5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C8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15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5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FD16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16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5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1302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A0B8D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BWD_SBOX_3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C8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14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FD16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15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8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1302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A0B8D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BWD_SBOX_2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5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C8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15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5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FD16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14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5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1302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A0B8D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BWD_SBOX_1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C8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16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FD16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15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8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A0E1A"/>
          </a:solidFill>
          <a:ln w="12700">
            <a:solidFill>
              <a:srgbClr val="0A0E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73152" cy="5143500"/>
          </a:xfrm>
          <a:prstGeom prst="rect">
            <a:avLst/>
          </a:prstGeom>
          <a:solidFill>
            <a:srgbClr val="FF7043"/>
          </a:solidFill>
          <a:ln w="12700">
            <a:solidFill>
              <a:srgbClr val="FF70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82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CC3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 CRYPTANALYSIS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475488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Avalanche Analysis &amp; Differential Trails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11480" y="1024128"/>
            <a:ext cx="4114800" cy="1874520"/>
          </a:xfrm>
          <a:prstGeom prst="rect">
            <a:avLst/>
          </a:prstGeom>
          <a:solidFill>
            <a:srgbClr val="F4F7FB"/>
          </a:solidFill>
          <a:ln w="12700">
            <a:solidFill>
              <a:srgbClr val="D0D8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11480" y="1024128"/>
            <a:ext cx="54864" cy="1874520"/>
          </a:xfrm>
          <a:prstGeom prst="rect">
            <a:avLst/>
          </a:prstGeom>
          <a:solidFill>
            <a:srgbClr val="FF7043"/>
          </a:solidFill>
          <a:ln w="12700">
            <a:solidFill>
              <a:srgbClr val="FF704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078992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Avalanche Analysis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94360" y="1408176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Single-bit plaintext flip → measure changed ciphertext bits</a:t>
            </a:r>
            <a:endParaRPr lang="en-US" sz="10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709928"/>
          <a:ext cx="3886200" cy="156972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8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6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6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44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Ideal avalanche (64-bit)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44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 bits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Original MANTIS avg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32.0148 bits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44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Novel MANTIS avg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44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32.0255 bits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Std dev (Original)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3.9759 bits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44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Std dev (Novel)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44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3.9424 bits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411480" y="2999232"/>
            <a:ext cx="4114800" cy="1938528"/>
          </a:xfrm>
          <a:prstGeom prst="rect">
            <a:avLst/>
          </a:prstGeom>
          <a:solidFill>
            <a:srgbClr val="F4F7FB"/>
          </a:solidFill>
          <a:ln w="12700">
            <a:solidFill>
              <a:srgbClr val="D0D8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11480" y="2999232"/>
            <a:ext cx="54864" cy="1938528"/>
          </a:xfrm>
          <a:prstGeom prst="rect">
            <a:avLst/>
          </a:prstGeom>
          <a:solidFill>
            <a:srgbClr val="0E7FA8"/>
          </a:solidFill>
          <a:ln w="12700">
            <a:solidFill>
              <a:srgbClr val="0E7FA8"/>
            </a:solidFill>
            <a:prstDash val="solid"/>
          </a:ln>
        </p:spPr>
      </p:sp>
      <p:sp>
        <p:nvSpPr>
          <p:cNvPr id="10" name="Text 10"/>
          <p:cNvSpPr/>
          <p:nvPr/>
        </p:nvSpPr>
        <p:spPr>
          <a:xfrm>
            <a:off x="594360" y="3054096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Comparison</a:t>
            </a:r>
            <a:endParaRPr lang="en-US" sz="1300" dirty="0"/>
          </a:p>
        </p:txBody>
      </p:sp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456432"/>
          <a:ext cx="3886200" cy="141732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6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Original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6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6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44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time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44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9.165 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44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11.126 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 enc. time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91.65 µs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111.26 µs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44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Throughput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44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10,910 /s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44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8,988 /s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Overhead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21.39%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5" name="Shape 11"/>
          <p:cNvSpPr/>
          <p:nvPr/>
        </p:nvSpPr>
        <p:spPr>
          <a:xfrm>
            <a:off x="4709160" y="1024128"/>
            <a:ext cx="4206240" cy="1280160"/>
          </a:xfrm>
          <a:prstGeom prst="rect">
            <a:avLst/>
          </a:prstGeom>
          <a:solidFill>
            <a:srgbClr val="F4F7FB"/>
          </a:solidFill>
          <a:ln w="12700">
            <a:solidFill>
              <a:srgbClr val="D0D8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4709160" y="1024128"/>
            <a:ext cx="54864" cy="1280160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4892040" y="1078992"/>
            <a:ext cx="3840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 Trail Probability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4892040" y="1408176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Ptrail ≤ (2⁻²)ᴺ  where N = total active S-boxes</a:t>
            </a:r>
            <a:endParaRPr lang="en-US" sz="1050" dirty="0"/>
          </a:p>
        </p:txBody>
      </p:sp>
      <p:sp>
        <p:nvSpPr>
          <p:cNvPr id="19" name="Text 15"/>
          <p:cNvSpPr/>
          <p:nvPr/>
        </p:nvSpPr>
        <p:spPr>
          <a:xfrm>
            <a:off x="4892040" y="1682496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E7F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Original (N=204):  Ptrail ≤ 2⁻⁴⁰⁸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4892040" y="1920240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D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Novel    (N=213):  Ptrail ≤ 2⁻⁴²⁶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4709160" y="2414016"/>
            <a:ext cx="4206240" cy="1508760"/>
          </a:xfrm>
          <a:prstGeom prst="rect">
            <a:avLst/>
          </a:prstGeom>
          <a:solidFill>
            <a:srgbClr val="F4F7FB"/>
          </a:solidFill>
          <a:ln w="12700">
            <a:solidFill>
              <a:srgbClr val="D0D8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4709160" y="2414016"/>
            <a:ext cx="54864" cy="1508760"/>
          </a:xfrm>
          <a:prstGeom prst="rect">
            <a:avLst/>
          </a:prstGeom>
          <a:solidFill>
            <a:srgbClr val="CE93D8"/>
          </a:solidFill>
          <a:ln w="12700">
            <a:solidFill>
              <a:srgbClr val="CE93D8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4892040" y="2468880"/>
            <a:ext cx="3840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2-Round Reduced Characteristic</a:t>
            </a:r>
            <a:endParaRPr lang="en-US" sz="1300" dirty="0"/>
          </a:p>
        </p:txBody>
      </p:sp>
      <p:sp>
        <p:nvSpPr>
          <p:cNvPr id="24" name="Text 20"/>
          <p:cNvSpPr/>
          <p:nvPr/>
        </p:nvSpPr>
        <p:spPr>
          <a:xfrm>
            <a:off x="4892040" y="2816352"/>
            <a:ext cx="38404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E7F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 differential:  ΔP = 0x0000000000000001</a:t>
            </a:r>
            <a:endParaRPr lang="en-US" sz="1100" dirty="0"/>
          </a:p>
        </p:txBody>
      </p:sp>
      <p:sp>
        <p:nvSpPr>
          <p:cNvPr id="14" name="Text 21"/>
          <p:cNvSpPr/>
          <p:nvPr/>
        </p:nvSpPr>
        <p:spPr>
          <a:xfrm>
            <a:off x="4892040" y="3063240"/>
            <a:ext cx="38404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444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Round 1 transition 1→2:   prob = 2⁻²</a:t>
            </a:r>
            <a:endParaRPr lang="en-US" sz="1100" dirty="0"/>
          </a:p>
        </p:txBody>
      </p:sp>
      <p:sp>
        <p:nvSpPr>
          <p:cNvPr id="26" name="Text 22"/>
          <p:cNvSpPr/>
          <p:nvPr/>
        </p:nvSpPr>
        <p:spPr>
          <a:xfrm>
            <a:off x="4892040" y="3310128"/>
            <a:ext cx="38404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444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Round 2 (3 active S-boxes): (2⁻²)³ = 2⁻⁶</a:t>
            </a:r>
            <a:endParaRPr lang="en-US" sz="1100" dirty="0"/>
          </a:p>
        </p:txBody>
      </p:sp>
      <p:sp>
        <p:nvSpPr>
          <p:cNvPr id="27" name="Text 23"/>
          <p:cNvSpPr/>
          <p:nvPr/>
        </p:nvSpPr>
        <p:spPr>
          <a:xfrm>
            <a:off x="4892040" y="3584448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C3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P₂-round ≈ 2⁻⁸  →  Data: ~2⁸ pairs, Time: ~2⁹ ops</a:t>
            </a:r>
            <a:endParaRPr lang="en-US" sz="1100" dirty="0"/>
          </a:p>
        </p:txBody>
      </p:sp>
      <p:sp>
        <p:nvSpPr>
          <p:cNvPr id="28" name="Shape 24"/>
          <p:cNvSpPr/>
          <p:nvPr/>
        </p:nvSpPr>
        <p:spPr>
          <a:xfrm>
            <a:off x="4709160" y="4041648"/>
            <a:ext cx="4206240" cy="960120"/>
          </a:xfrm>
          <a:prstGeom prst="rect">
            <a:avLst/>
          </a:prstGeom>
          <a:solidFill>
            <a:srgbClr val="F4F7FB"/>
          </a:solidFill>
          <a:ln w="12700">
            <a:solidFill>
              <a:srgbClr val="D0D8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4709160" y="4041648"/>
            <a:ext cx="54864" cy="960120"/>
          </a:xfrm>
          <a:prstGeom prst="rect">
            <a:avLst/>
          </a:prstGeom>
          <a:solidFill>
            <a:srgbClr val="00E676"/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4892040" y="4096512"/>
            <a:ext cx="3840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Representative 7-Round Trail (FWD layers)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4892040" y="4434840"/>
            <a:ext cx="3840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E7F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Orig: 1→3→9→16→13→15→15 active S-boxes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4892040" y="4654296"/>
            <a:ext cx="3840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D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Novel: 1→3→9→16→16→14→16 active S-boxes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16AEF3-75A5-59F6-84DE-EAB1620F7F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Picture 3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18B2F8F-7C5E-7C2B-C5FA-DC8DF6CDF4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88490" y="-49775"/>
            <a:ext cx="9311147" cy="5237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09290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E93D8"/>
          </a:solidFill>
          <a:ln w="12700">
            <a:solidFill>
              <a:srgbClr val="CE93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CE9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ANALYSIS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Integral Cryptanalysis on MANTIS5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457200" cy="457200"/>
          </a:xfrm>
          <a:prstGeom prst="ellipse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1155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A0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1170432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96112" y="1426464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Nibble takes all 16 values exactly once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560320" y="1115568"/>
            <a:ext cx="457200" cy="457200"/>
          </a:xfrm>
          <a:prstGeom prst="ellipse">
            <a:avLst/>
          </a:prstGeom>
          <a:solidFill>
            <a:srgbClr val="00E676"/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560320" y="11155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A0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090672" y="1170432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E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Constant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090672" y="1426464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Nibble is fixed across all plaintexts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54880" y="1115568"/>
            <a:ext cx="457200" cy="457200"/>
          </a:xfrm>
          <a:prstGeom prst="ellips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54880" y="11155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A0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285232" y="1170432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Balanced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285232" y="1426464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XOR sum of nibble values = 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949440" y="1115568"/>
            <a:ext cx="457200" cy="457200"/>
          </a:xfrm>
          <a:prstGeom prst="ellipse">
            <a:avLst/>
          </a:prstGeom>
          <a:solidFill>
            <a:srgbClr val="8892A4"/>
          </a:solidFill>
          <a:ln w="12700">
            <a:solidFill>
              <a:srgbClr val="8892A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49440" y="11155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A0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479792" y="1170432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Unknown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479792" y="1426464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predictable algebraic property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1920240"/>
            <a:ext cx="4206240" cy="2560320"/>
          </a:xfrm>
          <a:prstGeom prst="rect">
            <a:avLst/>
          </a:prstGeom>
          <a:solidFill>
            <a:srgbClr val="0D1830"/>
          </a:solidFill>
          <a:ln w="12700">
            <a:solidFill>
              <a:srgbClr val="CE93D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1993392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E9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5-Round Attack Strategy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02920" y="2377440"/>
            <a:ext cx="3931920" cy="20299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– Distinguisher (Rounds 1–4):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0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16 chosen plaintexts (1 active nibble).
  After 4 rounds → balanced nibbles appear.
  Propagation: A → 3A+C → multiple A → B
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– Key Recovery (Round 5):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0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Partially decrypt from ciphertext side.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0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Guess 4×4 = 16 key bits per column.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0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Check balanced property holds.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754880" y="1920240"/>
            <a:ext cx="4114800" cy="2560320"/>
          </a:xfrm>
          <a:prstGeom prst="rect">
            <a:avLst/>
          </a:prstGeom>
          <a:solidFill>
            <a:srgbClr val="0D1830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92040" y="199339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Summary</a:t>
            </a:r>
            <a:endParaRPr lang="en-US" sz="13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92040" y="2395728"/>
          <a:ext cx="3840480" cy="2011680"/>
        </p:xfrm>
        <a:graphic>
          <a:graphicData uri="http://schemas.openxmlformats.org/drawingml/2006/table">
            <a:tbl>
              <a:tblPr/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FA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F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A0B4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5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A0B4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2⁶ chosen plaintexts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5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C8D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C8D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2¹⁹·⁷ equiv. encryptions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8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A0B4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5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A0B4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2¹⁰ MANTIS states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5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C8D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bits guessed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C8D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 (vs 64 exhaustive)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8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1A8756-AF20-C0B2-5E81-B2CF09BAB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2767CB6-BD33-3C2F-6347-0FAD326E99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78658" y="-44245"/>
            <a:ext cx="9360310" cy="5265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342964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-1645920"/>
            <a:ext cx="4023360" cy="4023360"/>
          </a:xfrm>
          <a:prstGeom prst="ellipse">
            <a:avLst/>
          </a:prstGeom>
          <a:solidFill>
            <a:srgbClr val="00C8FF">
              <a:alpha val="6000"/>
            </a:srgbClr>
          </a:solidFill>
          <a:ln w="12700">
            <a:solidFill>
              <a:srgbClr val="00C8FF">
                <a:alpha val="2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97280" y="3200400"/>
            <a:ext cx="2743200" cy="2743200"/>
          </a:xfrm>
          <a:prstGeom prst="ellipse">
            <a:avLst/>
          </a:prstGeom>
          <a:solidFill>
            <a:srgbClr val="00C8FF">
              <a:alpha val="6000"/>
            </a:srgbClr>
          </a:solidFill>
          <a:ln w="12700">
            <a:solidFill>
              <a:srgbClr val="00C8FF">
                <a:alpha val="2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71600" y="-640080"/>
            <a:ext cx="6400800" cy="6400800"/>
          </a:xfrm>
          <a:prstGeom prst="ellipse">
            <a:avLst/>
          </a:prstGeom>
          <a:solidFill>
            <a:srgbClr val="00C8FF">
              <a:alpha val="6000"/>
            </a:srgbClr>
          </a:solidFill>
          <a:ln w="12700">
            <a:solidFill>
              <a:srgbClr val="00C8FF">
                <a:alpha val="2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46304"/>
            <a:ext cx="2011680" cy="347472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46304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A0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⭐  BROWNIE POINTS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566928"/>
            <a:ext cx="7132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Mantis Cipher Explorer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411480" y="1261872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interactive 3D simulation &amp; analysis tool for the MANTIS block cipher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1480" y="1664208"/>
            <a:ext cx="4114800" cy="457200"/>
          </a:xfrm>
          <a:prstGeom prst="rect">
            <a:avLst/>
          </a:prstGeom>
          <a:solidFill>
            <a:srgbClr val="0A1225"/>
          </a:solidFill>
          <a:ln w="19050">
            <a:solidFill>
              <a:srgbClr val="00C8FF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502920" y="1664208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 Live Demo: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645920" y="1664208"/>
            <a:ext cx="2788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action="ppaction://hlinkfile"/>
              </a:rPr>
              <a:t>mantis-cipher-explorer.vercel.app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27448" y="1664208"/>
            <a:ext cx="4114800" cy="457200"/>
          </a:xfrm>
          <a:prstGeom prst="rect">
            <a:avLst/>
          </a:prstGeom>
          <a:solidFill>
            <a:srgbClr val="0A1225"/>
          </a:solidFill>
          <a:ln w="19050">
            <a:solidFill>
              <a:srgbClr val="FFD16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18888" y="1664208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💻  Source Code: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961888" y="1664208"/>
            <a:ext cx="2788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D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4" action="ppaction://hlinkfile"/>
              </a:rPr>
              <a:t>github.com/Swarnadip-Kar/mantis-cipher-explorer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11480" y="2231136"/>
            <a:ext cx="2743200" cy="1261872"/>
          </a:xfrm>
          <a:prstGeom prst="rect">
            <a:avLst/>
          </a:prstGeom>
          <a:solidFill>
            <a:srgbClr val="0A1225"/>
          </a:solidFill>
          <a:ln w="12700">
            <a:solidFill>
              <a:srgbClr val="0E7FA8"/>
            </a:solidFill>
            <a:prstDash val="solid"/>
          </a:ln>
          <a:effectLst>
            <a:outerShdw blurRad="152400" dist="38100" dir="8100000" algn="bl" rotWithShape="0">
              <a:srgbClr val="00C8FF">
                <a:alpha val="2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11480" y="2231136"/>
            <a:ext cx="2743200" cy="45720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2304288"/>
            <a:ext cx="4754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🎲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14400" y="2304288"/>
            <a:ext cx="217627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3D Simulation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84632" y="2752344"/>
            <a:ext cx="2615184" cy="7040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Step-by-step 3D viz of cipher state matrix (encryption &amp; decryption) built with React &amp; React Three Fiber.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319272" y="2231136"/>
            <a:ext cx="2743200" cy="1261872"/>
          </a:xfrm>
          <a:prstGeom prst="rect">
            <a:avLst/>
          </a:prstGeom>
          <a:solidFill>
            <a:srgbClr val="0A1225"/>
          </a:solidFill>
          <a:ln w="12700">
            <a:solidFill>
              <a:srgbClr val="0E7FA8"/>
            </a:solidFill>
            <a:prstDash val="solid"/>
          </a:ln>
          <a:effectLst>
            <a:outerShdw blurRad="152400" dist="38100" dir="8100000" algn="bl" rotWithShape="0">
              <a:srgbClr val="00C8FF">
                <a:alpha val="2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319272" y="2231136"/>
            <a:ext cx="2743200" cy="45720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19272" y="2304288"/>
            <a:ext cx="4754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🔐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3822192" y="2304288"/>
            <a:ext cx="217627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Cryptographic Accuracy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392424" y="2752344"/>
            <a:ext cx="2615184" cy="7040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Strictly follows MANTIS spec — SubCells, MixColumns, AddTweakey, ShuffleCells, all 4 official test vectors verified.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227064" y="2231136"/>
            <a:ext cx="2743200" cy="1261872"/>
          </a:xfrm>
          <a:prstGeom prst="rect">
            <a:avLst/>
          </a:prstGeom>
          <a:solidFill>
            <a:srgbClr val="0A1225"/>
          </a:solidFill>
          <a:ln w="12700">
            <a:solidFill>
              <a:srgbClr val="0E7FA8"/>
            </a:solidFill>
            <a:prstDash val="solid"/>
          </a:ln>
          <a:effectLst>
            <a:outerShdw blurRad="152400" dist="38100" dir="8100000" algn="bl" rotWithShape="0">
              <a:srgbClr val="00C8FF">
                <a:alpha val="2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227064" y="2231136"/>
            <a:ext cx="2743200" cy="45720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27064" y="2304288"/>
            <a:ext cx="4754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⚙️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6729984" y="2304288"/>
            <a:ext cx="217627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Configurable Parameters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300216" y="2752344"/>
            <a:ext cx="2615184" cy="7040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MANTIS-5 through MANTIS-8 and beyond. Customizable Plaintext, Key₀, Key₁, Tweak via control panel.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11480" y="3584448"/>
            <a:ext cx="2743200" cy="1261872"/>
          </a:xfrm>
          <a:prstGeom prst="rect">
            <a:avLst/>
          </a:prstGeom>
          <a:solidFill>
            <a:srgbClr val="0A1225"/>
          </a:solidFill>
          <a:ln w="12700">
            <a:solidFill>
              <a:srgbClr val="0E7FA8"/>
            </a:solidFill>
            <a:prstDash val="solid"/>
          </a:ln>
          <a:effectLst>
            <a:outerShdw blurRad="152400" dist="38100" dir="8100000" algn="bl" rotWithShape="0">
              <a:srgbClr val="00C8FF">
                <a:alpha val="2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11480" y="3584448"/>
            <a:ext cx="2743200" cy="45720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11480" y="3657600"/>
            <a:ext cx="4754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🔍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914400" y="3657600"/>
            <a:ext cx="217627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 Attack Analysis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484632" y="4105656"/>
            <a:ext cx="2615184" cy="7040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 XOR diff Δin, observe propagation, highlight active cells, display Δout after each round.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319272" y="3584448"/>
            <a:ext cx="2743200" cy="1261872"/>
          </a:xfrm>
          <a:prstGeom prst="rect">
            <a:avLst/>
          </a:prstGeom>
          <a:solidFill>
            <a:srgbClr val="0A1225"/>
          </a:solidFill>
          <a:ln w="12700">
            <a:solidFill>
              <a:srgbClr val="0E7FA8"/>
            </a:solidFill>
            <a:prstDash val="solid"/>
          </a:ln>
          <a:effectLst>
            <a:outerShdw blurRad="152400" dist="38100" dir="8100000" algn="bl" rotWithShape="0">
              <a:srgbClr val="00C8FF">
                <a:alpha val="20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3319272" y="3584448"/>
            <a:ext cx="2743200" cy="45720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319272" y="3657600"/>
            <a:ext cx="4754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📊</a:t>
            </a:r>
            <a:endParaRPr lang="en-US" sz="2000" dirty="0"/>
          </a:p>
        </p:txBody>
      </p:sp>
      <p:sp>
        <p:nvSpPr>
          <p:cNvPr id="38" name="Text 36"/>
          <p:cNvSpPr/>
          <p:nvPr/>
        </p:nvSpPr>
        <p:spPr>
          <a:xfrm>
            <a:off x="3822192" y="3657600"/>
            <a:ext cx="217627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Integral Attack Analysis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3392424" y="4105656"/>
            <a:ext cx="2615184" cy="7040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16-plaintext structure sweeps one nibble. XOR sum tracked round-by-round until balanced property vanishes.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227064" y="3584448"/>
            <a:ext cx="2743200" cy="1261872"/>
          </a:xfrm>
          <a:prstGeom prst="rect">
            <a:avLst/>
          </a:prstGeom>
          <a:solidFill>
            <a:srgbClr val="0A1225"/>
          </a:solidFill>
          <a:ln w="12700">
            <a:solidFill>
              <a:srgbClr val="0E7FA8"/>
            </a:solidFill>
            <a:prstDash val="solid"/>
          </a:ln>
          <a:effectLst>
            <a:outerShdw blurRad="152400" dist="38100" dir="8100000" algn="bl" rotWithShape="0">
              <a:srgbClr val="00C8FF">
                <a:alpha val="2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227064" y="3584448"/>
            <a:ext cx="2743200" cy="45720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227064" y="3657600"/>
            <a:ext cx="4754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🌟</a:t>
            </a:r>
            <a:endParaRPr lang="en-US" sz="2000" dirty="0"/>
          </a:p>
        </p:txBody>
      </p:sp>
      <p:sp>
        <p:nvSpPr>
          <p:cNvPr id="43" name="Text 41"/>
          <p:cNvSpPr/>
          <p:nvPr/>
        </p:nvSpPr>
        <p:spPr>
          <a:xfrm>
            <a:off x="6729984" y="3657600"/>
            <a:ext cx="217627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UI/UX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6300216" y="4105656"/>
            <a:ext cx="2615184" cy="7040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Dark-themed, Framer Motion animations, detailed operation tracking. React 19 + Tailwind CSS + Drei.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15DAA70-F201-8C77-6A29-C634CE76CF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1" y="7951"/>
            <a:ext cx="9144000" cy="5143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02393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NOVEL VARIANT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Key–Tweak-Seeded Round Schedule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2743200" cy="2305878"/>
          </a:xfrm>
          <a:prstGeom prst="rect">
            <a:avLst/>
          </a:prstGeom>
          <a:solidFill>
            <a:srgbClr val="0D1830"/>
          </a:solidFill>
          <a:ln w="19050">
            <a:solidFill>
              <a:srgbClr val="00C8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097280"/>
            <a:ext cx="2743200" cy="54864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18872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LFSR-Based Round Constants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627632"/>
            <a:ext cx="256032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0B8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Seed: r₀ = k₀ ⊕ T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0B8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Sequence: rᵢ = LFSR(rᵢ₋₁)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0B8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LFSR(x) = (x≪1) ⊕ feedback(bits 63,3,2,0)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0B8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Replaces fixed RC₁…RCᵣ with key- and tweak-dependent values.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91840" y="1097280"/>
            <a:ext cx="2743200" cy="2305878"/>
          </a:xfrm>
          <a:prstGeom prst="rect">
            <a:avLst/>
          </a:prstGeom>
          <a:solidFill>
            <a:srgbClr val="0D1830"/>
          </a:solidFill>
          <a:ln w="19050">
            <a:solidFill>
              <a:srgbClr val="FFD16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91840" y="1097280"/>
            <a:ext cx="2743200" cy="54864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83280" y="118872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Key-Dependent Sub-Keys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383280" y="1627632"/>
            <a:ext cx="256032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0B8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Round i sub-key: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0B8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rkᵢ = ROR64(k₁, 4i) ⊕ rᵢ₋₁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0B8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Forward tweakey: hⁱ(T) ⊕ rkᵢ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0B8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Backward tweakey: hⁱ(T) ⊕ (rkᵢ ⊕ α)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0B8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Preserves α-reflection decryption structure.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217920" y="1097280"/>
            <a:ext cx="2743200" cy="2305878"/>
          </a:xfrm>
          <a:prstGeom prst="rect">
            <a:avLst/>
          </a:prstGeom>
          <a:solidFill>
            <a:srgbClr val="0D1830"/>
          </a:solidFill>
          <a:ln w="19050">
            <a:solidFill>
              <a:srgbClr val="CE93D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1097280"/>
            <a:ext cx="2743200" cy="54864"/>
          </a:xfrm>
          <a:prstGeom prst="rect">
            <a:avLst/>
          </a:prstGeom>
          <a:solidFill>
            <a:srgbClr val="CE93D8"/>
          </a:solidFill>
          <a:ln w="12700">
            <a:solidFill>
              <a:srgbClr val="CE93D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09360" y="118872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E9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Arbitrary Round Counts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309360" y="1627632"/>
            <a:ext cx="256032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0B8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Base MANTIS: r ∈ {5,6,7,8} only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0B8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Novel variant: any r ≥ 1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0B8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Tested: r = 5, 9, 12, 27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0B8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Enables exploration of security–latency trade-offs beyond the original design space.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65760" y="3494532"/>
            <a:ext cx="8412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Novel Variant Test Vectors (same Key &amp; Tweak as official)</a:t>
            </a:r>
            <a:endParaRPr lang="en-US" sz="13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6483908"/>
              </p:ext>
            </p:extLst>
          </p:nvPr>
        </p:nvGraphicFramePr>
        <p:xfrm>
          <a:off x="365760" y="3832860"/>
          <a:ext cx="8503920" cy="1310640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77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77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737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FA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Plaintext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FA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Ciphertext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F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A0B4C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5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A0B4C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3B5C77A4921F9718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5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A0B4C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141783D63FCB272E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5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C8D8F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9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C8D8F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D6522035C1C0C6C1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C8D8F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708B16A570A23941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8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A0B4C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12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5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A0B4C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60E43457311936FD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5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A0B4C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83E42E3E42681D75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5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C8D8F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27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C8D8F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308E8A07F168F517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8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C8D8F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108AF35E94342A33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8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A0E1A"/>
          </a:solidFill>
          <a:ln w="12700">
            <a:solidFill>
              <a:srgbClr val="0A0E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73152" cy="5143500"/>
          </a:xfrm>
          <a:prstGeom prst="rect">
            <a:avLst/>
          </a:prstGeom>
          <a:solidFill>
            <a:srgbClr val="00E676"/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8288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0099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475488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MANTIS Shines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11480" y="1024128"/>
            <a:ext cx="2743200" cy="3931920"/>
          </a:xfrm>
          <a:prstGeom prst="rect">
            <a:avLst/>
          </a:prstGeom>
          <a:solidFill>
            <a:srgbClr val="F4F7FB"/>
          </a:solidFill>
          <a:ln w="12700">
            <a:solidFill>
              <a:srgbClr val="D0D8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11480" y="1024128"/>
            <a:ext cx="2743200" cy="54864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115568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🖥️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502920" y="1719072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Encryption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02920" y="2148840"/>
            <a:ext cx="25603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44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use case — IBM SecureBlue++, Intel SGX. Every cache-line read/write encrypted on the critical path. Memory address serves as the tweak, providing natural sector isolation without IV management overhead.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02920" y="3858768"/>
            <a:ext cx="2560320" cy="292608"/>
          </a:xfrm>
          <a:prstGeom prst="rect">
            <a:avLst/>
          </a:prstGeom>
          <a:solidFill>
            <a:srgbClr val="00C8FF">
              <a:alpha val="15000"/>
            </a:srgbClr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3858768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A0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Single-cycle latency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" y="4206240"/>
            <a:ext cx="2560320" cy="292608"/>
          </a:xfrm>
          <a:prstGeom prst="rect">
            <a:avLst/>
          </a:prstGeom>
          <a:solidFill>
            <a:srgbClr val="00C8FF">
              <a:alpha val="15000"/>
            </a:srgbClr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4206240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A0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Zero decrypt overhead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4553712"/>
            <a:ext cx="2560320" cy="292608"/>
          </a:xfrm>
          <a:prstGeom prst="rect">
            <a:avLst/>
          </a:prstGeom>
          <a:solidFill>
            <a:srgbClr val="00C8FF">
              <a:alpha val="15000"/>
            </a:srgbClr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4553712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A0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Tweak = memory address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319272" y="1024128"/>
            <a:ext cx="2743200" cy="3931920"/>
          </a:xfrm>
          <a:prstGeom prst="rect">
            <a:avLst/>
          </a:prstGeom>
          <a:solidFill>
            <a:srgbClr val="F4F7FB"/>
          </a:solidFill>
          <a:ln w="12700">
            <a:solidFill>
              <a:srgbClr val="D0D8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319272" y="1024128"/>
            <a:ext cx="2743200" cy="54864"/>
          </a:xfrm>
          <a:prstGeom prst="rect">
            <a:avLst/>
          </a:prstGeom>
          <a:solidFill>
            <a:srgbClr val="00E676"/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319272" y="1115568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📡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3410712" y="1719072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 &amp; Embedded Systems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410712" y="2148840"/>
            <a:ext cx="25603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44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MANTIS5 requires only 8,544 GE at 15.95 ns (UMC 180 nm). Marginal area over PRINCE while gaining a full tweak input. Ideal for sensor-address binding in embedded deployments.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410712" y="3858768"/>
            <a:ext cx="2560320" cy="292608"/>
          </a:xfrm>
          <a:prstGeom prst="rect">
            <a:avLst/>
          </a:prstGeom>
          <a:solidFill>
            <a:srgbClr val="00E676">
              <a:alpha val="15000"/>
            </a:srgbClr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456432" y="3858768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A0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8,544 GE gate count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410712" y="4206240"/>
            <a:ext cx="2560320" cy="292608"/>
          </a:xfrm>
          <a:prstGeom prst="rect">
            <a:avLst/>
          </a:prstGeom>
          <a:solidFill>
            <a:srgbClr val="00E676">
              <a:alpha val="15000"/>
            </a:srgbClr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456432" y="4206240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A0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15.95 ns latency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10712" y="4553712"/>
            <a:ext cx="2560320" cy="292608"/>
          </a:xfrm>
          <a:prstGeom prst="rect">
            <a:avLst/>
          </a:prstGeom>
          <a:solidFill>
            <a:srgbClr val="00E676">
              <a:alpha val="15000"/>
            </a:srgbClr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456432" y="4553712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A0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Tweak binds sensor ID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27064" y="1024128"/>
            <a:ext cx="2743200" cy="3931920"/>
          </a:xfrm>
          <a:prstGeom prst="rect">
            <a:avLst/>
          </a:prstGeom>
          <a:solidFill>
            <a:srgbClr val="F4F7FB"/>
          </a:solidFill>
          <a:ln w="12700">
            <a:solidFill>
              <a:srgbClr val="D0D8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227064" y="1024128"/>
            <a:ext cx="2743200" cy="54864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227064" y="1115568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🏷️</a:t>
            </a:r>
            <a:endParaRPr lang="en-US" sz="2800" dirty="0"/>
          </a:p>
        </p:txBody>
      </p:sp>
      <p:sp>
        <p:nvSpPr>
          <p:cNvPr id="31" name="Text 29"/>
          <p:cNvSpPr/>
          <p:nvPr/>
        </p:nvSpPr>
        <p:spPr>
          <a:xfrm>
            <a:off x="6318504" y="1719072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PRESENT / AES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318504" y="2148840"/>
            <a:ext cx="25603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44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(ISO/IEC 29192-2) targets passive RFID (1,570 GE). AES dominates general-purpose usage. MANTIS fills the gap: active processors needing low-latency decryption with tweak support.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318504" y="3858768"/>
            <a:ext cx="2560320" cy="292608"/>
          </a:xfrm>
          <a:prstGeom prst="rect">
            <a:avLst/>
          </a:prstGeom>
          <a:solidFill>
            <a:srgbClr val="FFD166">
              <a:alpha val="15000"/>
            </a:srgbClr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364224" y="3858768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A0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Active processor niche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318504" y="4206240"/>
            <a:ext cx="2560320" cy="292608"/>
          </a:xfrm>
          <a:prstGeom prst="rect">
            <a:avLst/>
          </a:prstGeom>
          <a:solidFill>
            <a:srgbClr val="FFD166">
              <a:alpha val="15000"/>
            </a:srgbClr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364224" y="4206240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A0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Tweak beats PRESENT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318504" y="4553712"/>
            <a:ext cx="2560320" cy="292608"/>
          </a:xfrm>
          <a:prstGeom prst="rect">
            <a:avLst/>
          </a:prstGeom>
          <a:solidFill>
            <a:srgbClr val="FFD166">
              <a:alpha val="15000"/>
            </a:srgbClr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64224" y="4553712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A0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Better latency than AES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E7FA8"/>
          </a:solidFill>
          <a:ln w="12700">
            <a:solidFill>
              <a:srgbClr val="0E7F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CSL505 Cryptography  ·  IIT Bhilai  ·  Winter 2026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6459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Summary &amp; Takeaways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365760" y="1143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✅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1161288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0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MANTISᵣ specification: S-box, PermuteCells, MixColumns, tweak schedule, FX-construction key schedule.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17099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✅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14400" y="1728216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0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for MANTIS5 verified against official test vectors [BJK+16]; MANTIS6–8 also confirmed.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22768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✅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14400" y="2295144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0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 analysis: DDT, active S-boxes (orig 204 vs novel 213), avalanche ~32 bits, trail prob ≤ 2⁻⁴²⁶ (novel).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65760" y="28437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✅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14400" y="286207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0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Integral distinguisher (2⁶ data, 2¹⁹·⁷ time, 2¹⁰ memory) on 5-round MANTIS. 3 structural weaknesses noted.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3374136"/>
            <a:ext cx="8412480" cy="566928"/>
          </a:xfrm>
          <a:prstGeom prst="rect">
            <a:avLst/>
          </a:prstGeom>
          <a:solidFill>
            <a:srgbClr val="FFD166">
              <a:alpha val="12000"/>
            </a:srgbClr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341071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⭐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914400" y="34290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Novel variant: LFSR-seeded constants + rotation sub-keys + arbitrary r ≥ 1 · Cipher Explorer deployed at vercel.app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65760" y="3977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🌐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14400" y="3995928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0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MANTIS = best balance of latency, area, and tweakability for active-processor memory encryption.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85</TotalTime>
  <Words>2474</Words>
  <Application>Microsoft Macintosh PowerPoint</Application>
  <PresentationFormat>On-screen Show (16:9)</PresentationFormat>
  <Paragraphs>520</Paragraphs>
  <Slides>20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Arial</vt:lpstr>
      <vt:lpstr>Calibri</vt:lpstr>
      <vt:lpstr>Consolas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MANTIS: A Low-Latency Tweakable Block Cipher</dc:title>
  <dc:subject>PptxGenJS Presentation</dc:subject>
  <dc:creator>PptxGenJS</dc:creator>
  <cp:lastModifiedBy>Swarnadip Kar</cp:lastModifiedBy>
  <cp:revision>9</cp:revision>
  <dcterms:created xsi:type="dcterms:W3CDTF">2026-05-10T03:21:27Z</dcterms:created>
  <dcterms:modified xsi:type="dcterms:W3CDTF">2026-05-10T04:58:28Z</dcterms:modified>
</cp:coreProperties>
</file>