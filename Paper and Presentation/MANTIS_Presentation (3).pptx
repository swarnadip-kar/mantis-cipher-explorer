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30" d="100"/>
          <a:sy n="130" d="100"/>
        </p:scale>
        <p:origin x="114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598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ntis-cipher-explorer.vercel.app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github.com/Swarnadip-Kar/mantis-cipher-explorer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"/>
            <a:ext cx="2743200" cy="2743200"/>
          </a:xfrm>
          <a:prstGeom prst="ellipse">
            <a:avLst/>
          </a:prstGeom>
          <a:solidFill>
            <a:srgbClr val="0E7FA8">
              <a:alpha val="15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097280"/>
            <a:ext cx="1463040" cy="1463040"/>
          </a:xfrm>
          <a:prstGeom prst="ellipse">
            <a:avLst/>
          </a:prstGeom>
          <a:solidFill>
            <a:srgbClr val="0E7FA8">
              <a:alpha val="15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280160"/>
            <a:ext cx="914400" cy="914400"/>
          </a:xfrm>
          <a:prstGeom prst="ellipse">
            <a:avLst/>
          </a:prstGeom>
          <a:solidFill>
            <a:srgbClr val="0E7FA8">
              <a:alpha val="15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389120"/>
            <a:ext cx="1828800" cy="1828800"/>
          </a:xfrm>
          <a:prstGeom prst="ellipse">
            <a:avLst/>
          </a:prstGeom>
          <a:solidFill>
            <a:srgbClr val="0E7FA8">
              <a:alpha val="15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65760" y="3200400"/>
            <a:ext cx="1280160" cy="1280160"/>
          </a:xfrm>
          <a:prstGeom prst="ellipse">
            <a:avLst/>
          </a:prstGeom>
          <a:solidFill>
            <a:srgbClr val="0E7FA8">
              <a:alpha val="15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CSL505 CRYPTOGRAPHY  ·  TERM PAPER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MANTIS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Low-Latency Tweakable Block Cipher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32004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151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Analysis &amp; a Novel Variant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Agastya Nath  ·  Swarnadip Kar  ·  Divyansh Dubey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Bhilai  ·  Winter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E7FA8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Cipher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41148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E7FA8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E7FA8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E7FA8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72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Encryption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45720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E7FA8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572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α-Reflection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5720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E7FA8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572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SKINNY / MIDORI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MANTIS?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74320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27432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1208" y="215798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Latency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" y="2706624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(10 rounds) is too slow for cache-line memory encryption — every read/write must be protected within a single clock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1325880"/>
            <a:ext cx="274320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325880"/>
            <a:ext cx="27432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9000" y="215798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Input Needed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47288" y="2706624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&amp; SIMON reduce gate count but lack a tweak input for sector-level data isolation. Standard ciphers require costly re-keying.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27064" y="1325880"/>
            <a:ext cx="274320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1325880"/>
            <a:ext cx="27432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36792" y="215798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Overhead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706624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decrypt circuits double hardware cost. PRINCE introduced α-reflection; MANTIS extends this with a full 64-bit tweak.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709160"/>
            <a:ext cx="850392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 proposed by Beierle et al. at CRYPTO 2016 as part of the SKINNY cipher family [BJK+16]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CIPHER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MANTIS Parameters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530352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size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bits  (k₀ ∥ k₁, each 64 bits)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Tweak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Half-round count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(MANTIS5) to 8 (MANTIS8)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bits (nibble)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layout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4 array of nibbles (row-wise)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Decryption overhead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— same circuit, swapped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170432"/>
            <a:ext cx="2834640" cy="3291840"/>
          </a:xfrm>
          <a:prstGeom prst="rect">
            <a:avLst/>
          </a:prstGeom>
          <a:solidFill>
            <a:srgbClr val="0D1830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Schedule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6459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k′₀ = ROR64(k₀, 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k̄₁ = k₁ ⊕ α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0x243F6A88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85A308D3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(from π digits)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3200400"/>
            <a:ext cx="2834640" cy="1261872"/>
          </a:xfrm>
          <a:prstGeom prst="rect">
            <a:avLst/>
          </a:prstGeom>
          <a:solidFill>
            <a:srgbClr val="06101F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32552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FX-Construction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3611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and post-whitening keys k₀ and k′₀ wrap the keyed permutation, boosting security of the inner cipher.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4617720"/>
            <a:ext cx="8412480" cy="347472"/>
          </a:xfrm>
          <a:prstGeom prst="rect">
            <a:avLst/>
          </a:prstGeom>
          <a:solidFill>
            <a:srgbClr val="0E7FA8">
              <a:alpha val="3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α-Reflection: Dec(k₀,k′₀,k₁)(·,T) = Enc(k′₀,k₀,k₁⊕α)(·,T)  —  Decryption is free hardware!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COMPONENTS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S-Box · PermuteCells · MixColumns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50392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54864" cy="15087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Involutory MIDORI S-Box Sb₀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179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Sb₀ ∘ Sb₀ = id  (same table for encrypt &amp; decrypt)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47088"/>
          <a:ext cx="8083296" cy="457200"/>
        </p:xfrm>
        <a:graphic>
          <a:graphicData uri="http://schemas.openxmlformats.org/drawingml/2006/table">
            <a:tbl>
              <a:tblPr/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Sb₀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94360" y="23408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DPmax = 2⁻²  ·  εmax = 2⁻²  (optimal for involutory 4-bit S-boxes)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2670048"/>
            <a:ext cx="4114800" cy="15544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670048"/>
            <a:ext cx="54864" cy="1554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7340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PermuteCells (MIDORI P)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3081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Permutes 16 nibbles of the 4×4 state array.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Maximises active S-boxes vs PRINCE permutation.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3611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   0→0  1→11  2→6  3→13  4→10  5→1  6→12  7→7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8→5  9→14  10→3  11→8  12→15  13→4  14→9  15→2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2670048"/>
            <a:ext cx="4206240" cy="15544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2670048"/>
            <a:ext cx="54864" cy="15544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27340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MixColumns (Involutory)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92040" y="3081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matrix M over GF(2), applied per column.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= I → same circuit for encrypt &amp; decrypt.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92040" y="3611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| 0 1 1 1 |     Branch number 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1 0 1 1 |     M² = I (involutory)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1 1 0 1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1 1 1 0 |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FUNCTION &amp; ENCRYPTION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MANTISᵣ Encryption Algorithm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" cy="4114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216152"/>
            <a:ext cx="3840480" cy="457200"/>
          </a:xfrm>
          <a:prstGeom prst="rect">
            <a:avLst/>
          </a:prstGeom>
          <a:solidFill>
            <a:srgbClr val="0D183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344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SubCells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Sb₀ to each of 16 nibbles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" y="1645920"/>
            <a:ext cx="0" cy="155448"/>
          </a:xfrm>
          <a:prstGeom prst="line">
            <a:avLst/>
          </a:prstGeom>
          <a:noFill/>
          <a:ln w="12700">
            <a:solidFill>
              <a:srgbClr val="00C8F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1892808"/>
            <a:ext cx="411480" cy="4114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1874520"/>
            <a:ext cx="3840480" cy="457200"/>
          </a:xfrm>
          <a:prstGeom prst="rect">
            <a:avLst/>
          </a:prstGeom>
          <a:solidFill>
            <a:srgbClr val="0D183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8928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AddConstant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18928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state with round constant RCᵢ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1500" y="2304288"/>
            <a:ext cx="0" cy="155448"/>
          </a:xfrm>
          <a:prstGeom prst="line">
            <a:avLst/>
          </a:prstGeom>
          <a:noFill/>
          <a:ln w="12700">
            <a:solidFill>
              <a:srgbClr val="00E67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5760" y="2551176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51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2532888"/>
            <a:ext cx="3840480" cy="457200"/>
          </a:xfrm>
          <a:prstGeom prst="rect">
            <a:avLst/>
          </a:prstGeom>
          <a:solidFill>
            <a:srgbClr val="0D183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5511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AddTweakey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25511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state with hⁱ(T) ⊕ k₁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" y="2962656"/>
            <a:ext cx="0" cy="155448"/>
          </a:xfrm>
          <a:prstGeom prst="line">
            <a:avLst/>
          </a:prstGeom>
          <a:noFill/>
          <a:ln w="12700">
            <a:solidFill>
              <a:srgbClr val="FFD16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65760" y="3209544"/>
            <a:ext cx="411480" cy="41148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09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3191256"/>
            <a:ext cx="3840480" cy="457200"/>
          </a:xfrm>
          <a:prstGeom prst="rect">
            <a:avLst/>
          </a:prstGeom>
          <a:solidFill>
            <a:srgbClr val="0D1830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2095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PermuteCells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32095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permutation P to nibble positions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" y="3621024"/>
            <a:ext cx="0" cy="155448"/>
          </a:xfrm>
          <a:prstGeom prst="line">
            <a:avLst/>
          </a:prstGeom>
          <a:noFill/>
          <a:ln w="12700">
            <a:solidFill>
              <a:srgbClr val="FF704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5760" y="3867912"/>
            <a:ext cx="411480" cy="411480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67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" y="3849624"/>
            <a:ext cx="3840480" cy="457200"/>
          </a:xfrm>
          <a:prstGeom prst="rect">
            <a:avLst/>
          </a:prstGeom>
          <a:solidFill>
            <a:srgbClr val="0D1830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86791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MixColumns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34640" y="386791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column by matrix M over GF(2)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1143000"/>
            <a:ext cx="3977640" cy="3767328"/>
          </a:xfrm>
          <a:prstGeom prst="rect">
            <a:avLst/>
          </a:prstGeom>
          <a:solidFill>
            <a:srgbClr val="06101F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1170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Encryption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74920" y="15544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← m ⊕ k₀ ⊕ k₁ ⊕ 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180136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(initial whitening)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74920" y="208483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half Hᵣ: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2340864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i=1..r: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255117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SubCells → AddRC → AddTK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74920" y="276148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PermCells → MixCols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297180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SubCells(s)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324612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 layer: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347472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M(s) → SubCells(s)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74920" y="374904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half H⁻¹ᵣ: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74920" y="3986784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i=r..1: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74920" y="419709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MixCols → P⁻¹ → AddTK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74920" y="440740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AddRC → SubCells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37760" y="4718304"/>
            <a:ext cx="3977640" cy="274320"/>
          </a:xfrm>
          <a:prstGeom prst="rect">
            <a:avLst/>
          </a:prstGeom>
          <a:solidFill>
            <a:srgbClr val="0E7FA8">
              <a:alpha val="20000"/>
            </a:srgbClr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4718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← s ⊕ k′₀ ⊕ k₁ ⊕ α ⊕ 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CONSTANTS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from π  ·  RC₁ – RC₈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06908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50292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3401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0x13198A2E03707344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06908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50292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887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3401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0xA4093822299F31D0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057400"/>
            <a:ext cx="406908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057400"/>
            <a:ext cx="50292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574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057400"/>
            <a:ext cx="3401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0x082EFA98EC4E6C89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057400"/>
            <a:ext cx="406908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057400"/>
            <a:ext cx="50292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0574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057400"/>
            <a:ext cx="3401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0x452821E638D01377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2926080"/>
            <a:ext cx="406908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926080"/>
            <a:ext cx="50292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2926080"/>
            <a:ext cx="3401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0xBE5466CF34E90C6C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2926080"/>
            <a:ext cx="406908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26080"/>
            <a:ext cx="50292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2926080"/>
            <a:ext cx="3401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0xC0AC29B7C97C50DD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794760"/>
            <a:ext cx="406908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794760"/>
            <a:ext cx="50292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947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3794760"/>
            <a:ext cx="3401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0x3F84D5B5B5470917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9160" y="3794760"/>
            <a:ext cx="406908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794760"/>
            <a:ext cx="50292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7947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3794760"/>
            <a:ext cx="3401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0x9216D5D98979FB1B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1480" y="4645152"/>
            <a:ext cx="850392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645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 =  0x243F6A8885A308D3   (used to form  k̄₁ = k₁ ⊕ α,  also derived from π)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4572000"/>
            <a:ext cx="850392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SCHEDULE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64-bit Tweak Permutation 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[6, 5, 14, 15, 0, 1, 2, 3, 7, 12, 13, 4, 8, 9, 10, 11]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h(T)[i] = T[h[i]]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97480" cy="1920240"/>
          </a:xfrm>
          <a:prstGeom prst="rect">
            <a:avLst/>
          </a:prstGeom>
          <a:solidFill>
            <a:srgbClr val="0D183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26974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21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Usage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sequence h¹(T), h²(T), …, hʳ(T)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rounds 1, 2, …, r respectively.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011680"/>
            <a:ext cx="2697480" cy="1920240"/>
          </a:xfrm>
          <a:prstGeom prst="rect">
            <a:avLst/>
          </a:prstGeom>
          <a:solidFill>
            <a:srgbClr val="0D183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011680"/>
            <a:ext cx="26974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21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GF Multiplications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nibble permutation — no Galois-field arithmetic required, keeping the tweak schedule lightweight.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697480" cy="1920240"/>
          </a:xfrm>
          <a:prstGeom prst="rect">
            <a:avLst/>
          </a:prstGeom>
          <a:solidFill>
            <a:srgbClr val="0D183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011680"/>
            <a:ext cx="26974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21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MILP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h was selected by exhaustive MILP search over 8! candidates to maximise security.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0610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Security Property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480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Related-tweak attacks are the primary threat. MILP verified that MANTIS5 admits no related-tweak slide attack with fewer than 2³⁰ chosen plaintext–ciphertext pairs.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TEST VECTORS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against Appendix B.2 of [BJK+16]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50392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(k₀∥k₁): </a:t>
            </a:r>
            <a:r>
              <a:rPr lang="en-US" sz="12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92F09952C625E3E9 D7A060F714C0292B</a:t>
            </a: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Tweak: </a:t>
            </a:r>
            <a:r>
              <a:rPr lang="en-US" sz="12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BA912E6F1055FED2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55648"/>
            <a:ext cx="8503920" cy="685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55648"/>
            <a:ext cx="1005840" cy="6858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5564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810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PT: </a:t>
            </a:r>
            <a:r>
              <a:rPr lang="en-US" sz="12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3B5C77A4921F9718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CT: </a:t>
            </a:r>
            <a:r>
              <a:rPr lang="en-US" sz="1200" dirty="0">
                <a:solidFill>
                  <a:srgbClr val="C03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D6522035C1C0C6C1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8503920" cy="685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523744"/>
            <a:ext cx="1005840" cy="6858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23744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5786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PT: </a:t>
            </a:r>
            <a:r>
              <a:rPr lang="en-US" sz="12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D6522035C1C0C6C1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28712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CT: </a:t>
            </a:r>
            <a:r>
              <a:rPr lang="en-US" sz="1200" dirty="0">
                <a:solidFill>
                  <a:srgbClr val="C03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60E43457311936FD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291840"/>
            <a:ext cx="8503920" cy="685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91840"/>
            <a:ext cx="1005840" cy="6858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918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334670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PT: </a:t>
            </a:r>
            <a:r>
              <a:rPr lang="en-US" sz="12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60E43457311936FD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36393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CT: </a:t>
            </a:r>
            <a:r>
              <a:rPr lang="en-US" sz="1200" dirty="0">
                <a:solidFill>
                  <a:srgbClr val="C03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308E8A07F168F517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059936"/>
            <a:ext cx="8503920" cy="685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4059936"/>
            <a:ext cx="1005840" cy="6858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599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4114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PT: </a:t>
            </a:r>
            <a:r>
              <a:rPr lang="en-US" sz="12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308E8A07F168F517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44074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CT: </a:t>
            </a:r>
            <a:r>
              <a:rPr lang="en-US" sz="1200" dirty="0">
                <a:solidFill>
                  <a:srgbClr val="C03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971EA01A86B410BB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809744"/>
            <a:ext cx="8503920" cy="256032"/>
          </a:xfrm>
          <a:prstGeom prst="rect">
            <a:avLst/>
          </a:prstGeom>
          <a:solidFill>
            <a:srgbClr val="0E7FA8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097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variant's ciphertext is the next variant's plaintext — a chain of cascading test vectors!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NOVEL CIPHER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Key Modifications to MANTIS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75488"/>
          </a:xfrm>
          <a:prstGeom prst="rect">
            <a:avLst/>
          </a:prstGeom>
          <a:solidFill>
            <a:srgbClr val="0A1525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round constants and static round-key reuse → predictable differential propagation. Two targeted modifications fix this while preserving MANTIS's lightweight SPN &amp; α-reflection architecture.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160520" cy="3273552"/>
          </a:xfrm>
          <a:prstGeom prst="rect">
            <a:avLst/>
          </a:prstGeom>
          <a:solidFill>
            <a:srgbClr val="0D1830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416052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Dynamic Round Constants via LFSR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polynomial: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x⁶⁴ + x⁴ + x³ + x + 1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Primitive over GF(2)  →  period = 2⁶⁴ − 1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474720" cy="0"/>
          </a:xfrm>
          <a:prstGeom prst="line">
            <a:avLst/>
          </a:prstGeom>
          <a:noFill/>
          <a:ln w="12700">
            <a:solidFill>
              <a:srgbClr val="0E7FA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02920" y="30906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derivation: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28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RC₀ = K₀ ⊕ 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621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RCᵢ₊₁ = LFSR(RCᵢ)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968496"/>
            <a:ext cx="3474720" cy="384048"/>
          </a:xfrm>
          <a:prstGeom prst="rect">
            <a:avLst/>
          </a:prstGeom>
          <a:solidFill>
            <a:srgbClr val="060E1C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684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R₆₃ · · · R₄  R₃  R₂  R₁  R₀  →  ⊕  → feedback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4074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63, 3, 2, 0 XORed for feedback tap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664208"/>
            <a:ext cx="4160520" cy="3273552"/>
          </a:xfrm>
          <a:prstGeom prst="rect">
            <a:avLst/>
          </a:prstGeom>
          <a:solidFill>
            <a:srgbClr val="0D183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664208"/>
            <a:ext cx="416052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7373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Rotating Round-Key Schedule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1762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sub-key generation: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RKᵢ = ROR64(K₁, 4i) ⊕ RCᵢ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7614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tweakey: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999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TKᵢ = hⁱ(T) ⊕ RKᵢ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346704"/>
            <a:ext cx="3474720" cy="0"/>
          </a:xfrm>
          <a:prstGeom prst="line">
            <a:avLst/>
          </a:prstGeom>
          <a:noFill/>
          <a:ln w="12700">
            <a:solidFill>
              <a:srgbClr val="0E7FA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846320" y="34198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half (α-reflection preserved):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Tweakey = hⁱ(T) ⊕ (RKᵢ ⊕ α)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4005072"/>
            <a:ext cx="3474720" cy="0"/>
          </a:xfrm>
          <a:prstGeom prst="line">
            <a:avLst/>
          </a:prstGeom>
          <a:noFill/>
          <a:ln w="12700">
            <a:solidFill>
              <a:srgbClr val="0E7FA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846320" y="40782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properties: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3342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SPN structure unchanged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5354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Tweak permutation unchanged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736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α-reflection decryption intact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NOVEL CIPHER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Round Keys &amp; Performance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4160520" cy="34930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24128"/>
            <a:ext cx="54864" cy="3493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64-bit Round Keys (8 Forward Rounds)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92F09952C625E3E9 D7A060F714C0292B  ·  T = BA912E6F1055FED2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00784"/>
          <a:ext cx="3931920" cy="28956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Round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Round Key (hex)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66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66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951BB132A73C1FA9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7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7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7B14CE1B5BF4FA5F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66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66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333BA6F156B138EF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7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7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6A266E4ED377FD1A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66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66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8489CEA7610EA2F9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7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7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CC1FCC6D6E63507F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66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66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546F5DC8E60141A7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7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7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241BB7C0EFAEFD5A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8"/>
          <p:cNvSpPr/>
          <p:nvPr/>
        </p:nvSpPr>
        <p:spPr>
          <a:xfrm>
            <a:off x="4754880" y="1024128"/>
            <a:ext cx="416052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24128"/>
            <a:ext cx="54864" cy="1828800"/>
          </a:xfrm>
          <a:prstGeom prst="rect">
            <a:avLst/>
          </a:prstGeom>
          <a:solidFill>
            <a:srgbClr val="0E7FA8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0789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 (Python)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35608"/>
          <a:ext cx="3931920" cy="13569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6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6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9.165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11.126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6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enc.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91.65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111.26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6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10,910/s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8,988/s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6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754880" y="2962656"/>
            <a:ext cx="4160520" cy="202996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2962656"/>
            <a:ext cx="54864" cy="20299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37760" y="301752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Round-Key Generation Flow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92040" y="3493008"/>
            <a:ext cx="640080" cy="402336"/>
          </a:xfrm>
          <a:prstGeom prst="rect">
            <a:avLst/>
          </a:prstGeom>
          <a:solidFill>
            <a:srgbClr val="0A0E1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92040" y="349300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K₁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532120" y="3694176"/>
            <a:ext cx="164592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</p:sp>
      <p:sp>
        <p:nvSpPr>
          <p:cNvPr id="14" name="Shape 17"/>
          <p:cNvSpPr/>
          <p:nvPr/>
        </p:nvSpPr>
        <p:spPr>
          <a:xfrm>
            <a:off x="5696712" y="3493008"/>
            <a:ext cx="1463040" cy="402336"/>
          </a:xfrm>
          <a:prstGeom prst="rect">
            <a:avLst/>
          </a:prstGeom>
          <a:solidFill>
            <a:srgbClr val="0A0E1A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96712" y="34930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ROR64(K₁, 4i)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159752" y="3694176"/>
            <a:ext cx="164592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24344" y="3493008"/>
            <a:ext cx="822960" cy="402336"/>
          </a:xfrm>
          <a:prstGeom prst="rect">
            <a:avLst/>
          </a:prstGeom>
          <a:solidFill>
            <a:srgbClr val="0A0E1A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24344" y="349300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⊕  RCᵢ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147304" y="3694176"/>
            <a:ext cx="164592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11896" y="3493008"/>
            <a:ext cx="731520" cy="402336"/>
          </a:xfrm>
          <a:prstGeom prst="rect">
            <a:avLst/>
          </a:prstGeom>
          <a:solidFill>
            <a:srgbClr val="0A0E1A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11896" y="349300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RKᵢ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892040" y="4059936"/>
            <a:ext cx="640080" cy="402336"/>
          </a:xfrm>
          <a:prstGeom prst="rect">
            <a:avLst/>
          </a:prstGeom>
          <a:solidFill>
            <a:srgbClr val="0A0E1A"/>
          </a:solidFill>
          <a:ln w="19050">
            <a:solidFill>
              <a:srgbClr val="0E7FA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92040" y="405993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hⁱ(T)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532120" y="4261104"/>
            <a:ext cx="182880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715000" y="4059936"/>
            <a:ext cx="822960" cy="402336"/>
          </a:xfrm>
          <a:prstGeom prst="rect">
            <a:avLst/>
          </a:prstGeom>
          <a:solidFill>
            <a:srgbClr val="0A0E1A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715000" y="405993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⊕  RKᵢ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537960" y="4261104"/>
            <a:ext cx="182880" cy="0"/>
          </a:xfrm>
          <a:prstGeom prst="line">
            <a:avLst/>
          </a:prstGeom>
          <a:noFill/>
          <a:ln w="12700">
            <a:solidFill>
              <a:srgbClr val="8892A4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720840" y="4059936"/>
            <a:ext cx="731520" cy="402336"/>
          </a:xfrm>
          <a:prstGeom prst="rect">
            <a:avLst/>
          </a:prstGeom>
          <a:solidFill>
            <a:srgbClr val="0A0E1A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720840" y="405993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TKᵢ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846320" y="4572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Python benchmark — actual C/FPGA/ASIC performance would be significantly higher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Differential Cryptanalysis — DDT &amp; Active S-Boxes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2011680"/>
          </a:xfrm>
          <a:prstGeom prst="rect">
            <a:avLst/>
          </a:prstGeom>
          <a:solidFill>
            <a:srgbClr val="0D1830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4114800" cy="45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521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S-Box DDT &amp; Differential Properties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840480" cy="329184"/>
          </a:xfrm>
          <a:prstGeom prst="rect">
            <a:avLst/>
          </a:prstGeom>
          <a:solidFill>
            <a:srgbClr val="0A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DDT max nontrivial entry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5361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3840480" cy="329184"/>
          </a:xfrm>
          <a:prstGeom prst="rect">
            <a:avLst/>
          </a:prstGeom>
          <a:solidFill>
            <a:srgbClr val="0D18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019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uniformity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9019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3840480" cy="329184"/>
          </a:xfrm>
          <a:prstGeom prst="rect">
            <a:avLst/>
          </a:prstGeom>
          <a:solidFill>
            <a:srgbClr val="0A15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677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DPmax(Sb₀) = 4 / 2⁴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2677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2⁻²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3840480" cy="329184"/>
          </a:xfrm>
          <a:prstGeom prst="rect">
            <a:avLst/>
          </a:prstGeom>
          <a:solidFill>
            <a:srgbClr val="0D18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334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original MANTIS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26334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unchanged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4114800" cy="1737360"/>
          </a:xfrm>
          <a:prstGeom prst="rect">
            <a:avLst/>
          </a:prstGeom>
          <a:solidFill>
            <a:srgbClr val="0D1830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00400"/>
            <a:ext cx="4114800" cy="45720"/>
          </a:xfrm>
          <a:prstGeom prst="rect">
            <a:avLst/>
          </a:prstGeom>
          <a:solidFill>
            <a:srgbClr val="0E7FA8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735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S-Boxes (7-round MANTIS)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39312"/>
          <a:ext cx="3931920" cy="126187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Cipher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S-Boxes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Trail Bound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Original MANTIS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 2⁻⁴⁰⁸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Novel MANTIS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 2⁻⁴²⁶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800602" y="64347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Round-wise Active S-Box Counts (Table 9)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625382"/>
              </p:ext>
            </p:extLst>
          </p:nvPr>
        </p:nvGraphicFramePr>
        <p:xfrm>
          <a:off x="4754882" y="1000088"/>
          <a:ext cx="4114800" cy="4160520"/>
        </p:xfrm>
        <a:graphic>
          <a:graphicData uri="http://schemas.openxmlformats.org/drawingml/2006/table">
            <a:tbl>
              <a:tblPr/>
              <a:tblGrid>
                <a:gridCol w="203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Original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Novel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FWD_SBOX_1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FWD_SBOX_2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FWD_SBOX_3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FWD_SBOX_4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FWD_SBOX_5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FWD_SBOX_6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FWD_SBOX_7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MID_SBOX_1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MID_SBOX_2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BWD_SBOX_7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BWD_SBOX_6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BWD_SBOX_5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BWD_SBOX_4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BWD_SBOX_3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BWD_SBOX_2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0B8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BWD_SBOX_1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CRYPTANALYSIS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Avalanche Analysis &amp; Differential Trails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4114800" cy="1874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24128"/>
            <a:ext cx="54864" cy="18745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08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Single-bit plaintext flip → measure changed ciphertext bits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09928"/>
          <a:ext cx="3886200" cy="1569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avalanche (64-bit)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MANTIS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32.0148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MANTIS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32.0255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 (Original)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3.9759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 (Novel)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3.9424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11480" y="2999232"/>
            <a:ext cx="4114800" cy="19385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2999232"/>
            <a:ext cx="54864" cy="1938528"/>
          </a:xfrm>
          <a:prstGeom prst="rect">
            <a:avLst/>
          </a:prstGeom>
          <a:solidFill>
            <a:srgbClr val="0E7FA8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594360" y="3054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56432"/>
          <a:ext cx="3886200" cy="1417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9.165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11.126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enc.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91.65 µs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111.26 µs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10,910 /s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4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8,988 /s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709160" y="1024128"/>
            <a:ext cx="4206240" cy="1280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1024128"/>
            <a:ext cx="54864" cy="1280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92040" y="10789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Trail Probability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14081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Ptrail ≤ (2⁻²)ᴺ  where N = total active S-boxes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92040" y="1682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(N=204):  Ptrail ≤ 2⁻⁴⁰⁸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   (N=213):  Ptrail ≤ 2⁻⁴²⁶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09160" y="2414016"/>
            <a:ext cx="420624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09160" y="2414016"/>
            <a:ext cx="54864" cy="150876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24688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2-Round Reduced Characteristic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92040" y="281635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differential:  ΔP = 0x0000000000000001</a:t>
            </a:r>
            <a:endParaRPr lang="en-US" sz="1100" dirty="0"/>
          </a:p>
        </p:txBody>
      </p:sp>
      <p:sp>
        <p:nvSpPr>
          <p:cNvPr id="14" name="Text 21"/>
          <p:cNvSpPr/>
          <p:nvPr/>
        </p:nvSpPr>
        <p:spPr>
          <a:xfrm>
            <a:off x="4892040" y="3063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 transition 1→2:   prob = 2⁻²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92040" y="33101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 (3 active S-boxes): (2⁻²)³ = 2⁻⁶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892040" y="3584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P₂-round ≈ 2⁻⁸  →  Data: ~2⁸ pairs, Time: ~2⁹ ops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709160" y="4041648"/>
            <a:ext cx="420624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709160" y="4041648"/>
            <a:ext cx="54864" cy="9601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92040" y="40965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7-Round Trail (FWD layers)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892040" y="44348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Orig: 1→3→9→16→13→15→15 active S-boxes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892040" y="46542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Novel: 1→3→9→16→16→14→16 active S-boxes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Integral Cryptanalysis on MANTIS5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170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4264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Nibble takes all 16 values exactly once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115568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90672" y="1170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90672" y="14264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Nibble is fixed across all plaintexts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85232" y="1170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14264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sum of nibble values =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1115568"/>
            <a:ext cx="457200" cy="457200"/>
          </a:xfrm>
          <a:prstGeom prst="ellipse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79792" y="1170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79792" y="14264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predictable algebraic property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920240"/>
            <a:ext cx="4206240" cy="2560320"/>
          </a:xfrm>
          <a:prstGeom prst="rect">
            <a:avLst/>
          </a:prstGeom>
          <a:solidFill>
            <a:srgbClr val="0D1830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5-Round Attack Strategy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377440"/>
            <a:ext cx="393192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Distinguisher (Rounds 1–4):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 chosen plaintexts (1 active nibble).
  After 4 rounds → balanced nibbles appear.
  Propagation: A → 3A+C → multiple A → B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Key Recovery (Round 5):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Partially decrypt from ciphertext side.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Guess 4×4 = 16 key bits per column.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 balanced property holds.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114800" cy="2560320"/>
          </a:xfrm>
          <a:prstGeom prst="rect">
            <a:avLst/>
          </a:prstGeom>
          <a:solidFill>
            <a:srgbClr val="0D183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Summary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395728"/>
          <a:ext cx="3840480" cy="2011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2⁶ chosen plaintexts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2¹⁹·⁷ equiv. encryptions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2¹⁰ MANTIS states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bits guessed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(vs 64 exhaustive)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WEAKNESSES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 of MANTIS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8503920" cy="12070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88720"/>
            <a:ext cx="640080" cy="6400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109728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Related-Key Distinguisher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1426464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α-reflection property implies a probability-one distinguisher in the related-key model.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keys (k₀,k′₀,k₁) and (k′₀,k₀,k₁⊕α): encryption under one ≡ decryption under the other.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explicitly state MANTIS does not claim strong related-key security.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322576"/>
            <a:ext cx="8503920" cy="12070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87168"/>
            <a:ext cx="640080" cy="6400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239572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Reduced-Round Integral Distinguishers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2724912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diffusion enables integral properties to survive multiple rounds.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nibble relations remain observable for ~4 rounds before becoming unknown.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MANTIS5 has a smaller security margin against integral-style distinguishers.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21024"/>
            <a:ext cx="8503920" cy="120700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85616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856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1872" y="3694176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Birthday-Bound Block Size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402336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block size → birthday bound of 2³² blocks.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usage requires proper tweak management to avoid collisions and repeated-state phenomena.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the memory address as tweak to ensure unique (key, tweak) pairs.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023360" cy="4023360"/>
          </a:xfrm>
          <a:prstGeom prst="ellipse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00C8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00C8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-640080"/>
            <a:ext cx="6400800" cy="6400800"/>
          </a:xfrm>
          <a:prstGeom prst="ellipse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00C8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6304"/>
            <a:ext cx="201168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BROWNIE POINTS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566928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Mantis Cipher Explorer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3D simulation &amp; analysis tool for the MANTIS block cipher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4114800" cy="457200"/>
          </a:xfrm>
          <a:prstGeom prst="rect">
            <a:avLst/>
          </a:prstGeom>
          <a:solidFill>
            <a:srgbClr val="0A1225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64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0" y="166420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action="ppaction://hlinkfile"/>
              </a:rPr>
              <a:t>mantis-cipher-explorer.vercel.app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27448" y="1664208"/>
            <a:ext cx="4114800" cy="457200"/>
          </a:xfrm>
          <a:prstGeom prst="rect">
            <a:avLst/>
          </a:prstGeom>
          <a:solidFill>
            <a:srgbClr val="0A1225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664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Source Code: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61888" y="166420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action="ppaction://hlinkfile"/>
              </a:rPr>
              <a:t>github.com/Swarnadip-Kar/mantis-cipher-explorer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231136"/>
            <a:ext cx="2743200" cy="1261872"/>
          </a:xfrm>
          <a:prstGeom prst="rect">
            <a:avLst/>
          </a:prstGeom>
          <a:solidFill>
            <a:srgbClr val="0A1225"/>
          </a:solidFill>
          <a:ln w="12700">
            <a:solidFill>
              <a:srgbClr val="0E7FA8"/>
            </a:solidFill>
            <a:prstDash val="solid"/>
          </a:ln>
          <a:effectLst>
            <a:outerShdw blurRad="152400" dist="38100" dir="8100000" algn="bl" rotWithShape="0">
              <a:srgbClr val="00C8FF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231136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0428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2304288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Simulation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" y="2752344"/>
            <a:ext cx="261518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3D viz of cipher state matrix (encryption &amp; decryption) built with React &amp; React Three Fiber.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9272" y="2231136"/>
            <a:ext cx="2743200" cy="1261872"/>
          </a:xfrm>
          <a:prstGeom prst="rect">
            <a:avLst/>
          </a:prstGeom>
          <a:solidFill>
            <a:srgbClr val="0A1225"/>
          </a:solidFill>
          <a:ln w="12700">
            <a:solidFill>
              <a:srgbClr val="0E7FA8"/>
            </a:solidFill>
            <a:prstDash val="solid"/>
          </a:ln>
          <a:effectLst>
            <a:outerShdw blurRad="152400" dist="38100" dir="8100000" algn="bl" rotWithShape="0">
              <a:srgbClr val="00C8FF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9272" y="2231136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30428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22192" y="2304288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Accuracy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92424" y="2752344"/>
            <a:ext cx="261518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follows MANTIS spec — SubCells, MixColumns, AddTweakey, ShuffleCells, all 4 official test vectors verified.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27064" y="2231136"/>
            <a:ext cx="2743200" cy="1261872"/>
          </a:xfrm>
          <a:prstGeom prst="rect">
            <a:avLst/>
          </a:prstGeom>
          <a:solidFill>
            <a:srgbClr val="0A1225"/>
          </a:solidFill>
          <a:ln w="12700">
            <a:solidFill>
              <a:srgbClr val="0E7FA8"/>
            </a:solidFill>
            <a:prstDash val="solid"/>
          </a:ln>
          <a:effectLst>
            <a:outerShdw blurRad="152400" dist="38100" dir="8100000" algn="bl" rotWithShape="0">
              <a:srgbClr val="00C8FF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27064" y="2231136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230428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29984" y="2304288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Parameters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0216" y="2752344"/>
            <a:ext cx="261518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MANTIS-5 through MANTIS-8 and beyond. Customizable Plaintext, Key₀, Key₁, Tweak via control panel.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584448"/>
            <a:ext cx="2743200" cy="1261872"/>
          </a:xfrm>
          <a:prstGeom prst="rect">
            <a:avLst/>
          </a:prstGeom>
          <a:solidFill>
            <a:srgbClr val="0A1225"/>
          </a:solidFill>
          <a:ln w="12700">
            <a:solidFill>
              <a:srgbClr val="0E7FA8"/>
            </a:solidFill>
            <a:prstDash val="solid"/>
          </a:ln>
          <a:effectLst>
            <a:outerShdw blurRad="152400" dist="38100" dir="8100000" algn="bl" rotWithShape="0">
              <a:srgbClr val="00C8FF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584448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6576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14400" y="3657600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Attack Analysis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" y="4105656"/>
            <a:ext cx="261518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XOR diff Δin, observe propagation, highlight active cells, display Δout after each round.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19272" y="3584448"/>
            <a:ext cx="2743200" cy="1261872"/>
          </a:xfrm>
          <a:prstGeom prst="rect">
            <a:avLst/>
          </a:prstGeom>
          <a:solidFill>
            <a:srgbClr val="0A1225"/>
          </a:solidFill>
          <a:ln w="12700">
            <a:solidFill>
              <a:srgbClr val="0E7FA8"/>
            </a:solidFill>
            <a:prstDash val="solid"/>
          </a:ln>
          <a:effectLst>
            <a:outerShdw blurRad="152400" dist="38100" dir="8100000" algn="bl" rotWithShape="0">
              <a:srgbClr val="00C8FF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19272" y="3584448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36576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822192" y="3657600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Attack Analysis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92424" y="4105656"/>
            <a:ext cx="261518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16-plaintext structure sweeps one nibble. XOR sum tracked round-by-round until balanced property vanishes.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27064" y="3584448"/>
            <a:ext cx="2743200" cy="1261872"/>
          </a:xfrm>
          <a:prstGeom prst="rect">
            <a:avLst/>
          </a:prstGeom>
          <a:solidFill>
            <a:srgbClr val="0A1225"/>
          </a:solidFill>
          <a:ln w="12700">
            <a:solidFill>
              <a:srgbClr val="0E7FA8"/>
            </a:solidFill>
            <a:prstDash val="solid"/>
          </a:ln>
          <a:effectLst>
            <a:outerShdw blurRad="152400" dist="38100" dir="8100000" algn="bl" rotWithShape="0">
              <a:srgbClr val="00C8FF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27064" y="3584448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27064" y="36576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729984" y="3657600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UI/UX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00216" y="4105656"/>
            <a:ext cx="261518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Dark-themed, Framer Motion animations, detailed operation tracking. React 19 + Tailwind CSS + Drei.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5DAA70-F201-8C77-6A29-C634CE76C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" y="79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3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VARIANT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Key–Tweak-Seeded Round Schedule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2305878"/>
          </a:xfrm>
          <a:prstGeom prst="rect">
            <a:avLst/>
          </a:prstGeom>
          <a:solidFill>
            <a:srgbClr val="0D1830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LFSR-Based Round Constants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Seed: r₀ = k₀ ⊕ 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Sequence: rᵢ = LFSR(rᵢ₋₁)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LFSR(x) = (x≪1) ⊕ feedback(bits 63,3,2,0)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Replaces fixed RC₁…RCᵣ with key- and tweak-dependent values.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743200" cy="2305878"/>
          </a:xfrm>
          <a:prstGeom prst="rect">
            <a:avLst/>
          </a:prstGeom>
          <a:solidFill>
            <a:srgbClr val="0D183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97280"/>
            <a:ext cx="2743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Key-Dependent Sub-Keys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i sub-key: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rkᵢ = ROR64(k₁, 4i) ⊕ rᵢ₋₁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tweakey: hⁱ(T) ⊕ rkᵢ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tweakey: hⁱ(T) ⊕ (rkᵢ ⊕ α)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Preserves α-reflection decryption structure.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743200" cy="2305878"/>
          </a:xfrm>
          <a:prstGeom prst="rect">
            <a:avLst/>
          </a:prstGeom>
          <a:solidFill>
            <a:srgbClr val="0D1830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97280"/>
            <a:ext cx="274320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Round Counts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62763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MANTIS: r ∈ {5,6,7,8} only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variant: any r ≥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Tested: r = 5, 9, 12, 27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Enables exploration of security–latency trade-offs beyond the original design space.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49453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Variant Test Vectors (same Key &amp; Tweak as official)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483908"/>
              </p:ext>
            </p:extLst>
          </p:nvPr>
        </p:nvGraphicFramePr>
        <p:xfrm>
          <a:off x="365760" y="3832860"/>
          <a:ext cx="8503920" cy="13106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Plaintext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Ciphertext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3B5C77A4921F9718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141783D63FCB272E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D6522035C1C0C6C1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708B16A570A23941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60E43457311936FD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B4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83E42E3E42681D75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308E8A07F168F517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108AF35E94342A33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9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MANTIS Shines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2743200" cy="3931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24128"/>
            <a:ext cx="27432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Encryption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 — IBM SecureBlue++, Intel SGX. Every cache-line read/write encrypted on the critical path. Memory address serves as the tweak, providing natural sector isolation without IV management overhead.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858768"/>
            <a:ext cx="2560320" cy="292608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58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Single-cycle 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206240"/>
            <a:ext cx="2560320" cy="292608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06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decrypt overhead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553712"/>
            <a:ext cx="2560320" cy="292608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537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Tweak = memory address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9272" y="1024128"/>
            <a:ext cx="2743200" cy="3931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9272" y="1024128"/>
            <a:ext cx="27432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1155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410712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Embedded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0712" y="21488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MANTIS5 requires only 8,544 GE at 15.95 ns (UMC 180 nm). Marginal area over PRINCE while gaining a full tweak input. Ideal for sensor-address binding in embedded deployments.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10712" y="3858768"/>
            <a:ext cx="2560320" cy="292608"/>
          </a:xfrm>
          <a:prstGeom prst="rect">
            <a:avLst/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3858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8,544 GE gate count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4206240"/>
            <a:ext cx="2560320" cy="292608"/>
          </a:xfrm>
          <a:prstGeom prst="rect">
            <a:avLst/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4206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15.95 ns latency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4553712"/>
            <a:ext cx="2560320" cy="292608"/>
          </a:xfrm>
          <a:prstGeom prst="rect">
            <a:avLst/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45537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Tweak binds sensor 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27064" y="1024128"/>
            <a:ext cx="2743200" cy="3931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27064" y="1024128"/>
            <a:ext cx="2743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11155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318504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PRESENT / AES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18504" y="21488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(ISO/IEC 29192-2) targets passive RFID (1,570 GE). AES dominates general-purpose usage. MANTIS fills the gap: active processors needing low-latency decryption with tweak support.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18504" y="3858768"/>
            <a:ext cx="2560320" cy="292608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858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processor niche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18504" y="4206240"/>
            <a:ext cx="2560320" cy="292608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4206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Tweak beats PRESENT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18504" y="4553712"/>
            <a:ext cx="2560320" cy="292608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45537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latency than AES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FA8"/>
          </a:solidFill>
          <a:ln w="12700">
            <a:solidFill>
              <a:srgbClr val="0E7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CSL505 Cryptography  ·  IIT Bhilai  ·  Winter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Takeaways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1612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MANTISᵣ specification: S-box, PermuteCells, MixColumns, tweak schedule, FX-construction key schedule.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7282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for MANTIS5 verified against official test vectors [BJK+16]; MANTIS6–8 also confirmed.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2951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analysis: DDT, active S-boxes (orig 204 vs novel 213), avalanche ~32 bits, trail prob ≤ 2⁻⁴²⁶ (novel).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843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8620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distinguisher (2⁶ data, 2¹⁹·⁷ time, 2¹⁰ memory) on 5-round MANTIS. 3 structural weaknesses noted.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74136"/>
            <a:ext cx="8412480" cy="566928"/>
          </a:xfrm>
          <a:prstGeom prst="rect">
            <a:avLst/>
          </a:prstGeom>
          <a:solidFill>
            <a:srgbClr val="FFD166">
              <a:alpha val="12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variant: LFSR-seeded constants + rotation sub-keys + arbitrary r ≥ 1 · Cipher Explorer deployed at vercel.app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9959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 = best balance of latency, area, and tweakability for active-processor memory encryption.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2622</Words>
  <Application>Microsoft Macintosh PowerPoint</Application>
  <PresentationFormat>On-screen Show (16:9)</PresentationFormat>
  <Paragraphs>542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MANTIS: A Low-Latency Tweakable Block Cipher</dc:title>
  <dc:subject>PptxGenJS Presentation</dc:subject>
  <dc:creator>PptxGenJS</dc:creator>
  <cp:lastModifiedBy>Swarnadip Kar</cp:lastModifiedBy>
  <cp:revision>6</cp:revision>
  <dcterms:created xsi:type="dcterms:W3CDTF">2026-05-10T03:21:27Z</dcterms:created>
  <dcterms:modified xsi:type="dcterms:W3CDTF">2026-05-10T03:57:02Z</dcterms:modified>
</cp:coreProperties>
</file>